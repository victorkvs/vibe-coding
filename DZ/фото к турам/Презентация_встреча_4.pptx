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Roboto"/>
      <p:regular r:id="rId30"/>
      <p:bold r:id="rId31"/>
      <p:italic r:id="rId32"/>
      <p:boldItalic r:id="rId33"/>
    </p:embeddedFont>
    <p:embeddedFont>
      <p:font typeface="Montserrat"/>
      <p:regular r:id="rId34"/>
      <p:bold r:id="rId35"/>
      <p:italic r:id="rId36"/>
      <p:boldItalic r:id="rId37"/>
    </p:embeddedFont>
    <p:embeddedFont>
      <p:font typeface="Oswald Light"/>
      <p:regular r:id="rId38"/>
      <p:bold r:id="rId39"/>
    </p:embeddedFont>
    <p:embeddedFont>
      <p:font typeface="Oswald"/>
      <p:regular r:id="rId40"/>
      <p:bold r:id="rId41"/>
    </p:embeddedFont>
    <p:embeddedFont>
      <p:font typeface="Roboto Mon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6" roundtripDataSignature="AMtx7mhm1Dgc3PvziLsvcdsGlGhPAQm9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EE7211F-E68C-4D37-83B1-AD100F4D14D2}">
  <a:tblStyle styleId="{CEE7211F-E68C-4D37-83B1-AD100F4D14D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swald-regular.fntdata"/><Relationship Id="rId20" Type="http://schemas.openxmlformats.org/officeDocument/2006/relationships/slide" Target="slides/slide14.xml"/><Relationship Id="rId42" Type="http://schemas.openxmlformats.org/officeDocument/2006/relationships/font" Target="fonts/RobotoMono-regular.fntdata"/><Relationship Id="rId41" Type="http://schemas.openxmlformats.org/officeDocument/2006/relationships/font" Target="fonts/Oswald-bold.fntdata"/><Relationship Id="rId22" Type="http://schemas.openxmlformats.org/officeDocument/2006/relationships/slide" Target="slides/slide16.xml"/><Relationship Id="rId44" Type="http://schemas.openxmlformats.org/officeDocument/2006/relationships/font" Target="fonts/RobotoMono-italic.fntdata"/><Relationship Id="rId21" Type="http://schemas.openxmlformats.org/officeDocument/2006/relationships/slide" Target="slides/slide15.xml"/><Relationship Id="rId43" Type="http://schemas.openxmlformats.org/officeDocument/2006/relationships/font" Target="fonts/RobotoMono-bold.fntdata"/><Relationship Id="rId24" Type="http://schemas.openxmlformats.org/officeDocument/2006/relationships/slide" Target="slides/slide18.xml"/><Relationship Id="rId46" Type="http://customschemas.google.com/relationships/presentationmetadata" Target="metadata"/><Relationship Id="rId23" Type="http://schemas.openxmlformats.org/officeDocument/2006/relationships/slide" Target="slides/slide17.xml"/><Relationship Id="rId45" Type="http://schemas.openxmlformats.org/officeDocument/2006/relationships/font" Target="fonts/RobotoMon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5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4.xml"/><Relationship Id="rId32" Type="http://schemas.openxmlformats.org/officeDocument/2006/relationships/font" Target="fonts/Roboto-italic.fntdata"/><Relationship Id="rId13" Type="http://schemas.openxmlformats.org/officeDocument/2006/relationships/slide" Target="slides/slide7.xml"/><Relationship Id="rId35" Type="http://schemas.openxmlformats.org/officeDocument/2006/relationships/font" Target="fonts/Montserrat-bold.fntdata"/><Relationship Id="rId12" Type="http://schemas.openxmlformats.org/officeDocument/2006/relationships/slide" Target="slides/slide6.xml"/><Relationship Id="rId34" Type="http://schemas.openxmlformats.org/officeDocument/2006/relationships/font" Target="fonts/Montserrat-regular.fntdata"/><Relationship Id="rId15" Type="http://schemas.openxmlformats.org/officeDocument/2006/relationships/slide" Target="slides/slide9.xml"/><Relationship Id="rId37" Type="http://schemas.openxmlformats.org/officeDocument/2006/relationships/font" Target="fonts/Montserrat-boldItalic.fntdata"/><Relationship Id="rId14" Type="http://schemas.openxmlformats.org/officeDocument/2006/relationships/slide" Target="slides/slide8.xml"/><Relationship Id="rId36" Type="http://schemas.openxmlformats.org/officeDocument/2006/relationships/font" Target="fonts/Montserrat-italic.fntdata"/><Relationship Id="rId17" Type="http://schemas.openxmlformats.org/officeDocument/2006/relationships/slide" Target="slides/slide11.xml"/><Relationship Id="rId39" Type="http://schemas.openxmlformats.org/officeDocument/2006/relationships/font" Target="fonts/OswaldLight-bold.fntdata"/><Relationship Id="rId16" Type="http://schemas.openxmlformats.org/officeDocument/2006/relationships/slide" Target="slides/slide10.xml"/><Relationship Id="rId38" Type="http://schemas.openxmlformats.org/officeDocument/2006/relationships/font" Target="fonts/OswaldLight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11caf8dd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b11caf8d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11caf8dd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b11caf8dd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900c2233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a900c2233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f0de3b39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af0de3b39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1c012ce6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b1c012ce6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1c012ce6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b1c012ce6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1c012ce6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b1c012ce6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1c012ce6d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b1c012ce6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6fb98f1f3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6fb98f1f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1c012ce6d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b1c012ce6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f0de3b394_0_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af0de3b39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1994afbc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91994afbc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91994afbc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91994afbc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91994afbcf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91994afbc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b1edf8e81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b1edf8e81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1994afbc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91994afbc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91994afbcf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91994afbc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1994afbcf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91994afbc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45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4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4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4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8" name="Google Shape;58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 1">
  <p:cSld name="OBJECT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1" name="Google Shape;61;p47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1pPr>
            <a:lvl2pPr indent="-2984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/>
            </a:lvl2pPr>
            <a:lvl3pPr indent="-2984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/>
            </a:lvl4pPr>
            <a:lvl5pPr indent="-2984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/>
            </a:lvl5pPr>
            <a:lvl6pPr indent="-2984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6pPr>
            <a:lvl7pPr indent="-2984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7pPr>
            <a:lvl8pPr indent="-2984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8pPr>
            <a:lvl9pPr indent="-2984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9pPr>
          </a:lstStyle>
          <a:p/>
        </p:txBody>
      </p:sp>
      <p:sp>
        <p:nvSpPr>
          <p:cNvPr id="62" name="Google Shape;62;p47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47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4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Relationship Id="rId4" Type="http://schemas.openxmlformats.org/officeDocument/2006/relationships/image" Target="../media/image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hireawriter.us/business/dialog-flows-how-to-write-chatbot-conversations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" title="17.jpg"/>
          <p:cNvPicPr preferRelativeResize="0"/>
          <p:nvPr/>
        </p:nvPicPr>
        <p:blipFill rotWithShape="1">
          <a:blip r:embed="rId3">
            <a:alphaModFix/>
          </a:blip>
          <a:srcRect b="12066" l="0" r="0" t="38438"/>
          <a:stretch/>
        </p:blipFill>
        <p:spPr>
          <a:xfrm>
            <a:off x="450850" y="914425"/>
            <a:ext cx="8242273" cy="228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"/>
          <p:cNvSpPr txBox="1"/>
          <p:nvPr/>
        </p:nvSpPr>
        <p:spPr>
          <a:xfrm>
            <a:off x="412419" y="281219"/>
            <a:ext cx="28647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" sz="10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UNIVERSITY OF ARTIFICIAL INTELLIGENCE</a:t>
            </a:r>
            <a:endParaRPr b="0" i="0" sz="1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cxnSp>
        <p:nvCxnSpPr>
          <p:cNvPr id="71" name="Google Shape;71;p1"/>
          <p:cNvCxnSpPr/>
          <p:nvPr/>
        </p:nvCxnSpPr>
        <p:spPr>
          <a:xfrm rot="10800000">
            <a:off x="451350" y="709350"/>
            <a:ext cx="8241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1"/>
          <p:cNvSpPr txBox="1"/>
          <p:nvPr>
            <p:ph type="ctrTitle"/>
          </p:nvPr>
        </p:nvSpPr>
        <p:spPr>
          <a:xfrm>
            <a:off x="411000" y="3006050"/>
            <a:ext cx="8476500" cy="100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300">
                <a:latin typeface="Oswald"/>
                <a:ea typeface="Oswald"/>
                <a:cs typeface="Oswald"/>
                <a:sym typeface="Oswald"/>
              </a:rPr>
              <a:t>Университет искусственного интеллекта</a:t>
            </a:r>
            <a:endParaRPr sz="43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3" name="Google Shape;73;p1"/>
          <p:cNvSpPr txBox="1"/>
          <p:nvPr>
            <p:ph idx="1" type="subTitle"/>
          </p:nvPr>
        </p:nvSpPr>
        <p:spPr>
          <a:xfrm>
            <a:off x="451350" y="3201000"/>
            <a:ext cx="8312100" cy="182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КУРС “Vibe coding”</a:t>
            </a:r>
            <a:endParaRPr sz="3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БЛОК</a:t>
            </a:r>
            <a:r>
              <a:rPr lang="ru" sz="30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 </a:t>
            </a:r>
            <a:r>
              <a:rPr lang="ru"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“</a:t>
            </a:r>
            <a:r>
              <a:rPr i="1" lang="ru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Vibe-coding ассистенты и Telegram-боты </a:t>
            </a:r>
            <a:r>
              <a:rPr lang="ru"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”</a:t>
            </a:r>
            <a:endParaRPr sz="30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grpSp>
        <p:nvGrpSpPr>
          <p:cNvPr id="74" name="Google Shape;74;p1"/>
          <p:cNvGrpSpPr/>
          <p:nvPr/>
        </p:nvGrpSpPr>
        <p:grpSpPr>
          <a:xfrm>
            <a:off x="8325416" y="330002"/>
            <a:ext cx="367700" cy="178510"/>
            <a:chOff x="291051" y="6104250"/>
            <a:chExt cx="752251" cy="365350"/>
          </a:xfrm>
        </p:grpSpPr>
        <p:pic>
          <p:nvPicPr>
            <p:cNvPr id="75" name="Google Shape;75;p1"/>
            <p:cNvPicPr preferRelativeResize="0"/>
            <p:nvPr/>
          </p:nvPicPr>
          <p:blipFill rotWithShape="1">
            <a:blip r:embed="rId4">
              <a:alphaModFix/>
            </a:blip>
            <a:srcRect b="0" l="0" r="80985" t="0"/>
            <a:stretch/>
          </p:blipFill>
          <p:spPr>
            <a:xfrm>
              <a:off x="291051" y="6104250"/>
              <a:ext cx="527275" cy="365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1"/>
            <p:cNvPicPr preferRelativeResize="0"/>
            <p:nvPr/>
          </p:nvPicPr>
          <p:blipFill rotWithShape="1">
            <a:blip r:embed="rId4">
              <a:alphaModFix/>
            </a:blip>
            <a:srcRect b="0" l="22416" r="69470" t="0"/>
            <a:stretch/>
          </p:blipFill>
          <p:spPr>
            <a:xfrm>
              <a:off x="818325" y="6104250"/>
              <a:ext cx="224977" cy="3653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7" name="Google Shape;77;p1"/>
          <p:cNvPicPr preferRelativeResize="0"/>
          <p:nvPr/>
        </p:nvPicPr>
        <p:blipFill rotWithShape="1">
          <a:blip r:embed="rId5">
            <a:alphaModFix/>
          </a:blip>
          <a:srcRect b="0" l="59496" r="0" t="0"/>
          <a:stretch/>
        </p:blipFill>
        <p:spPr>
          <a:xfrm rot="-5400000">
            <a:off x="7168913" y="1689412"/>
            <a:ext cx="2189200" cy="73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47336" r="15381" t="0"/>
          <a:stretch/>
        </p:blipFill>
        <p:spPr>
          <a:xfrm>
            <a:off x="261500" y="698375"/>
            <a:ext cx="2147149" cy="42205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" name="Google Shape;83;p2"/>
          <p:cNvCxnSpPr/>
          <p:nvPr/>
        </p:nvCxnSpPr>
        <p:spPr>
          <a:xfrm rot="10800000">
            <a:off x="10631" y="247463"/>
            <a:ext cx="670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2"/>
          <p:cNvSpPr txBox="1"/>
          <p:nvPr/>
        </p:nvSpPr>
        <p:spPr>
          <a:xfrm>
            <a:off x="6063394" y="118200"/>
            <a:ext cx="2864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УНИВЕРСИТЕТ ИСКУССТВЕННОГО ИНТЕЛЛЕКТА</a:t>
            </a:r>
            <a:endParaRPr b="0" i="0" sz="9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2452075" y="472875"/>
            <a:ext cx="6476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тема: </a:t>
            </a:r>
            <a:r>
              <a:rPr b="1" i="1" lang="ru" sz="3200">
                <a:solidFill>
                  <a:schemeClr val="dk1"/>
                </a:solidFill>
              </a:rPr>
              <a:t> </a:t>
            </a:r>
            <a:r>
              <a:rPr lang="ru" sz="3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Меню, кнопки, сценарии диалогов</a:t>
            </a:r>
            <a:endParaRPr sz="32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2452075" y="1240725"/>
            <a:ext cx="6437100" cy="37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Подтемы:</a:t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AutoNum type="arabicPeriod"/>
            </a:pPr>
            <a:r>
              <a:rPr lang="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Введение: что такое интерактивный интерфейс бота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AutoNum type="arabicPeriod"/>
            </a:pPr>
            <a:r>
              <a:rPr lang="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Reply-клавиатуры и inline-кнопки: отличия и области применения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AutoNum type="arabicPeriod"/>
            </a:pPr>
            <a:r>
              <a:rPr lang="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Типы меню и их использование в ботах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AutoNum type="arabicPeriod"/>
            </a:pPr>
            <a:r>
              <a:rPr lang="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Основы проектирования диалоговых сценариев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Практика:</a:t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AutoNum type="arabicPeriod"/>
            </a:pPr>
            <a:r>
              <a:rPr lang="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Создание ТГ бота: AI тур агент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Google Shape;91;p3"/>
          <p:cNvCxnSpPr/>
          <p:nvPr/>
        </p:nvCxnSpPr>
        <p:spPr>
          <a:xfrm rot="10800000">
            <a:off x="10631" y="4791563"/>
            <a:ext cx="670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3"/>
          <p:cNvSpPr txBox="1"/>
          <p:nvPr/>
        </p:nvSpPr>
        <p:spPr>
          <a:xfrm>
            <a:off x="6063394" y="4662300"/>
            <a:ext cx="2864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УНИВЕРСИТЕТ ИСКУССТВЕННОГО ИНТЕЛЛЕКТА</a:t>
            </a:r>
            <a:endParaRPr b="0" i="0" sz="9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3" name="Google Shape;93;p3"/>
          <p:cNvSpPr txBox="1"/>
          <p:nvPr>
            <p:ph type="title"/>
          </p:nvPr>
        </p:nvSpPr>
        <p:spPr>
          <a:xfrm>
            <a:off x="352000" y="78525"/>
            <a:ext cx="82884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3400">
                <a:latin typeface="Oswald"/>
                <a:ea typeface="Oswald"/>
                <a:cs typeface="Oswald"/>
                <a:sym typeface="Oswald"/>
              </a:rPr>
              <a:t>Ч</a:t>
            </a:r>
            <a:r>
              <a:rPr lang="ru" sz="3400">
                <a:latin typeface="Oswald"/>
                <a:ea typeface="Oswald"/>
                <a:cs typeface="Oswald"/>
                <a:sym typeface="Oswald"/>
              </a:rPr>
              <a:t>то такое интерактивный интерфейс бота</a:t>
            </a:r>
            <a:endParaRPr sz="109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403050" y="777425"/>
            <a:ext cx="8337900" cy="40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Интерактивный интерфейс бота — это:</a:t>
            </a:r>
            <a:endParaRPr b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кнопки, по которым можно нажать;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меню, по которому можно перемещаться;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готовые варианты действий, которые бот предлагает сам.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Бот без интерфейса (“голый чат”):</a:t>
            </a:r>
            <a:endParaRPr b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Пользователь видит только строку ввода.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Нужно самому придумать формулировку вопроса.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Можно писать что угодно, и бот часто “плавает” в ответах.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Сценарии сложно контролировать: каждый пишет по-своему.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Бот с интерактивным интерфейсом:</a:t>
            </a:r>
            <a:endParaRPr b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На экране есть меню и кнопки.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Пользователь видит, </a:t>
            </a:r>
            <a:r>
              <a:rPr i="1"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что вообще можно сделать</a:t>
            </a: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Большинство действий — через выбор, а не через “угадай фразу”.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Диалог превращается в управляемый сценарий: шаг за шагом к результату.</a:t>
            </a:r>
            <a:endParaRPr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" name="Google Shape;99;g3b11caf8ddc_0_0"/>
          <p:cNvCxnSpPr/>
          <p:nvPr/>
        </p:nvCxnSpPr>
        <p:spPr>
          <a:xfrm rot="10800000">
            <a:off x="10631" y="4791563"/>
            <a:ext cx="670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g3b11caf8ddc_0_0"/>
          <p:cNvSpPr txBox="1"/>
          <p:nvPr/>
        </p:nvSpPr>
        <p:spPr>
          <a:xfrm>
            <a:off x="6063394" y="4662300"/>
            <a:ext cx="2864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УНИВЕРСИТЕТ ИСКУССТВЕННОГО ИНТЕЛЛЕКТА</a:t>
            </a:r>
            <a:endParaRPr b="0" i="0" sz="9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1" name="Google Shape;101;g3b11caf8ddc_0_0"/>
          <p:cNvSpPr txBox="1"/>
          <p:nvPr>
            <p:ph type="title"/>
          </p:nvPr>
        </p:nvSpPr>
        <p:spPr>
          <a:xfrm>
            <a:off x="352000" y="157850"/>
            <a:ext cx="82884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3400">
                <a:latin typeface="Oswald"/>
                <a:ea typeface="Oswald"/>
                <a:cs typeface="Oswald"/>
                <a:sym typeface="Oswald"/>
              </a:rPr>
              <a:t>Что такое интерактивный интерфейс бота</a:t>
            </a:r>
            <a:endParaRPr sz="109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2" name="Google Shape;102;g3b11caf8ddc_0_0"/>
          <p:cNvSpPr txBox="1"/>
          <p:nvPr/>
        </p:nvSpPr>
        <p:spPr>
          <a:xfrm>
            <a:off x="403050" y="808850"/>
            <a:ext cx="8337900" cy="3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Простой пример </a:t>
            </a: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интерактивного интерфейса</a:t>
            </a: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❌ “Напишите ваш вопрос”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✅ “Что вы хотите сделать?”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📝 “Записаться”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💸 “Узнать стоимость”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❓ “Задать вопрос оператору”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g3b11caf8ddc_0_7"/>
          <p:cNvCxnSpPr/>
          <p:nvPr/>
        </p:nvCxnSpPr>
        <p:spPr>
          <a:xfrm rot="10800000">
            <a:off x="10631" y="4791563"/>
            <a:ext cx="670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g3b11caf8ddc_0_7"/>
          <p:cNvSpPr txBox="1"/>
          <p:nvPr/>
        </p:nvSpPr>
        <p:spPr>
          <a:xfrm>
            <a:off x="6063394" y="4662300"/>
            <a:ext cx="2864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УНИВЕРСИТЕТ ИСКУССТВЕННОГО ИНТЕЛЛЕКТА</a:t>
            </a:r>
            <a:endParaRPr b="0" i="0" sz="9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9" name="Google Shape;109;g3b11caf8ddc_0_7"/>
          <p:cNvSpPr txBox="1"/>
          <p:nvPr>
            <p:ph type="title"/>
          </p:nvPr>
        </p:nvSpPr>
        <p:spPr>
          <a:xfrm>
            <a:off x="352000" y="157850"/>
            <a:ext cx="82884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3400">
                <a:latin typeface="Oswald"/>
                <a:ea typeface="Oswald"/>
                <a:cs typeface="Oswald"/>
                <a:sym typeface="Oswald"/>
              </a:rPr>
              <a:t>Что такое интерактивный интерфейс бота</a:t>
            </a:r>
            <a:endParaRPr sz="109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0" name="Google Shape;110;g3b11caf8ddc_0_7"/>
          <p:cNvSpPr txBox="1"/>
          <p:nvPr/>
        </p:nvSpPr>
        <p:spPr>
          <a:xfrm>
            <a:off x="403050" y="951975"/>
            <a:ext cx="8337900" cy="3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Зачем нам вообще интерфейс в боте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Интерактивный интерфейс решает сразу несколько задач: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AutoNum type="arabicPeriod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Убирает неопределённость у пользователя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AutoNum type="arabicPeriod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Ускоряет путь к результату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AutoNum type="arabicPeriod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Снижает количество ошибок и “не тех” запросов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AutoNum type="arabicPeriod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Помогает проектировать логику бота как систему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На базовом уровне интерфейс бота обычно включает: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Меню — “каркас” возможностей бота (разделы: “Услуги”, “Запись”, “Помощь” и т.д.).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Кнопки — конкретные действия или варианты ответа внутри разделов.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Сценарии диалогов — пути, по которым мы ведём пользователя (например, сценарий записи, сценарий консультации, сценарий ответа на вопросы).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4"/>
          <p:cNvPicPr preferRelativeResize="0"/>
          <p:nvPr/>
        </p:nvPicPr>
        <p:blipFill rotWithShape="1">
          <a:blip r:embed="rId3">
            <a:alphaModFix/>
          </a:blip>
          <a:srcRect b="0" l="26071" r="26161" t="0"/>
          <a:stretch/>
        </p:blipFill>
        <p:spPr>
          <a:xfrm>
            <a:off x="5820275" y="494125"/>
            <a:ext cx="3027676" cy="453945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"/>
          <p:cNvSpPr txBox="1"/>
          <p:nvPr/>
        </p:nvSpPr>
        <p:spPr>
          <a:xfrm>
            <a:off x="290550" y="1391975"/>
            <a:ext cx="5386800" cy="3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Есть два базовых типа кнопок в Telegram-ботах: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Reply-клавиатура — клавиатура вместо обычной, работает на уровне чата в целом.</a:t>
            </a:r>
            <a:br>
              <a:rPr lang="ru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Inline-кнопки — кнопки под конкретным сообщением, работают как отдельные события.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7" name="Google Shape;117;p4"/>
          <p:cNvCxnSpPr/>
          <p:nvPr/>
        </p:nvCxnSpPr>
        <p:spPr>
          <a:xfrm rot="10800000">
            <a:off x="10631" y="247463"/>
            <a:ext cx="670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4"/>
          <p:cNvSpPr txBox="1"/>
          <p:nvPr/>
        </p:nvSpPr>
        <p:spPr>
          <a:xfrm>
            <a:off x="6063394" y="118200"/>
            <a:ext cx="2864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УНИВЕРСИТЕТ ИСКУССТВЕННОГО ИНТЕЛЛЕКТА</a:t>
            </a:r>
            <a:endParaRPr b="0" i="0" sz="9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229725" y="247475"/>
            <a:ext cx="5603700" cy="11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9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Reply-клавиатуры и inline-кнопки: отличия и области применения</a:t>
            </a:r>
            <a:endParaRPr i="0" sz="94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" name="Google Shape;124;g3a900c2233e_0_1"/>
          <p:cNvCxnSpPr/>
          <p:nvPr/>
        </p:nvCxnSpPr>
        <p:spPr>
          <a:xfrm rot="10800000">
            <a:off x="6" y="4995738"/>
            <a:ext cx="670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g3a900c2233e_0_1"/>
          <p:cNvSpPr txBox="1"/>
          <p:nvPr/>
        </p:nvSpPr>
        <p:spPr>
          <a:xfrm>
            <a:off x="6063394" y="4827200"/>
            <a:ext cx="2864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УНИВЕРСИТЕТ ИСКУССТВЕННОГО ИНТЕЛЛЕКТА</a:t>
            </a:r>
            <a:endParaRPr b="0" i="0" sz="9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6" name="Google Shape;126;g3a900c2233e_0_1"/>
          <p:cNvSpPr txBox="1"/>
          <p:nvPr>
            <p:ph type="title"/>
          </p:nvPr>
        </p:nvSpPr>
        <p:spPr>
          <a:xfrm>
            <a:off x="270150" y="0"/>
            <a:ext cx="8470800" cy="10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900">
                <a:latin typeface="Oswald"/>
                <a:ea typeface="Oswald"/>
                <a:cs typeface="Oswald"/>
                <a:sym typeface="Oswald"/>
              </a:rPr>
              <a:t>Reply-клавиатуры и inline-кнопки: отличия и области применения</a:t>
            </a:r>
            <a:endParaRPr sz="59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7" name="Google Shape;127;g3a900c2233e_0_1"/>
          <p:cNvSpPr txBox="1"/>
          <p:nvPr/>
        </p:nvSpPr>
        <p:spPr>
          <a:xfrm>
            <a:off x="403175" y="1060200"/>
            <a:ext cx="8470800" cy="3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Reply-клавиатура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Montserrat"/>
              <a:buChar char="-"/>
            </a:pPr>
            <a:r>
              <a:rPr lang="ru">
                <a:solidFill>
                  <a:srgbClr val="0F1115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это удобное меню из кнопок, которое появляется в интерфейсе чата вместо/над обычной клавиатуры. Пользователю не нужно вводить текст — достаточно нажать на одну из предложенных кнопок.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Когда использовать reply-клавиатуру:</a:t>
            </a:r>
            <a:endParaRPr>
              <a:solidFill>
                <a:srgbClr val="0F111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Montserrat"/>
              <a:buChar char="●"/>
            </a:pPr>
            <a:r>
              <a:rPr lang="ru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Когда нужно предоставить пользователю основные, всегда доступные опции.</a:t>
            </a:r>
            <a:endParaRPr>
              <a:solidFill>
                <a:srgbClr val="0F111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Montserrat"/>
              <a:buChar char="●"/>
            </a:pPr>
            <a:r>
              <a:rPr lang="ru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Когда в боте есть несколько ключевых сценариев или разделов, с которых начинается взаимодействие.</a:t>
            </a:r>
            <a:endParaRPr>
              <a:solidFill>
                <a:srgbClr val="0F111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Типичные примеры:</a:t>
            </a:r>
            <a:endParaRPr>
              <a:solidFill>
                <a:srgbClr val="0F111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ru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Главное меню: </a:t>
            </a:r>
            <a:r>
              <a:rPr lang="ru">
                <a:solidFill>
                  <a:srgbClr val="0F1115"/>
                </a:solidFill>
                <a:highlight>
                  <a:srgbClr val="EBEEF2"/>
                </a:highlight>
                <a:latin typeface="Montserrat"/>
                <a:ea typeface="Montserrat"/>
                <a:cs typeface="Montserrat"/>
                <a:sym typeface="Montserrat"/>
              </a:rPr>
              <a:t>Записаться</a:t>
            </a:r>
            <a:r>
              <a:rPr lang="ru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ru">
                <a:solidFill>
                  <a:srgbClr val="0F1115"/>
                </a:solidFill>
                <a:highlight>
                  <a:srgbClr val="EBEEF2"/>
                </a:highlight>
                <a:latin typeface="Montserrat"/>
                <a:ea typeface="Montserrat"/>
                <a:cs typeface="Montserrat"/>
                <a:sym typeface="Montserrat"/>
              </a:rPr>
              <a:t>Цены</a:t>
            </a:r>
            <a:r>
              <a:rPr lang="ru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ru">
                <a:solidFill>
                  <a:srgbClr val="0F1115"/>
                </a:solidFill>
                <a:highlight>
                  <a:srgbClr val="EBEEF2"/>
                </a:highlight>
                <a:latin typeface="Montserrat"/>
                <a:ea typeface="Montserrat"/>
                <a:cs typeface="Montserrat"/>
                <a:sym typeface="Montserrat"/>
              </a:rPr>
              <a:t>Контакты</a:t>
            </a:r>
            <a:r>
              <a:rPr lang="ru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ru">
                <a:solidFill>
                  <a:srgbClr val="0F1115"/>
                </a:solidFill>
                <a:highlight>
                  <a:srgbClr val="EBEEF2"/>
                </a:highlight>
                <a:latin typeface="Montserrat"/>
                <a:ea typeface="Montserrat"/>
                <a:cs typeface="Montserrat"/>
                <a:sym typeface="Montserrat"/>
              </a:rPr>
              <a:t>Акции</a:t>
            </a:r>
            <a:endParaRPr>
              <a:solidFill>
                <a:srgbClr val="0F1115"/>
              </a:solidFill>
              <a:highlight>
                <a:srgbClr val="EBEEF2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Roboto"/>
              <a:buChar char="●"/>
            </a:pPr>
            <a:r>
              <a:rPr lang="ru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Базовые команды: </a:t>
            </a:r>
            <a:r>
              <a:rPr lang="ru">
                <a:solidFill>
                  <a:srgbClr val="0F1115"/>
                </a:solidFill>
                <a:highlight>
                  <a:srgbClr val="EBEEF2"/>
                </a:highlight>
                <a:latin typeface="Montserrat"/>
                <a:ea typeface="Montserrat"/>
                <a:cs typeface="Montserrat"/>
                <a:sym typeface="Montserrat"/>
              </a:rPr>
              <a:t>Вернуться в меню</a:t>
            </a:r>
            <a:r>
              <a:rPr lang="ru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ru">
                <a:solidFill>
                  <a:srgbClr val="0F1115"/>
                </a:solidFill>
                <a:highlight>
                  <a:srgbClr val="EBEEF2"/>
                </a:highlight>
                <a:latin typeface="Montserrat"/>
                <a:ea typeface="Montserrat"/>
                <a:cs typeface="Montserrat"/>
                <a:sym typeface="Montserrat"/>
              </a:rPr>
              <a:t>Мой профиль</a:t>
            </a:r>
            <a:r>
              <a:rPr lang="ru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ru">
                <a:solidFill>
                  <a:srgbClr val="0F1115"/>
                </a:solidFill>
                <a:highlight>
                  <a:srgbClr val="EBEEF2"/>
                </a:highlight>
                <a:latin typeface="Montserrat"/>
                <a:ea typeface="Montserrat"/>
                <a:cs typeface="Montserrat"/>
                <a:sym typeface="Montserrat"/>
              </a:rPr>
              <a:t>Помощь</a:t>
            </a:r>
            <a:r>
              <a:rPr lang="ru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ru">
                <a:solidFill>
                  <a:srgbClr val="0F1115"/>
                </a:solidFill>
                <a:highlight>
                  <a:srgbClr val="EBEEF2"/>
                </a:highlight>
                <a:latin typeface="Montserrat"/>
                <a:ea typeface="Montserrat"/>
                <a:cs typeface="Montserrat"/>
                <a:sym typeface="Montserrat"/>
              </a:rPr>
              <a:t>Отмена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Google Shape;132;g3af0de3b394_0_17"/>
          <p:cNvCxnSpPr/>
          <p:nvPr/>
        </p:nvCxnSpPr>
        <p:spPr>
          <a:xfrm rot="10800000">
            <a:off x="6" y="4995738"/>
            <a:ext cx="670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g3af0de3b394_0_17"/>
          <p:cNvSpPr txBox="1"/>
          <p:nvPr/>
        </p:nvSpPr>
        <p:spPr>
          <a:xfrm>
            <a:off x="6063394" y="4827200"/>
            <a:ext cx="2864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УНИВЕРСИТЕТ ИСКУССТВЕННОГО ИНТЕЛЛЕКТА</a:t>
            </a:r>
            <a:endParaRPr b="0" i="0" sz="9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4" name="Google Shape;134;g3af0de3b394_0_17"/>
          <p:cNvSpPr txBox="1"/>
          <p:nvPr>
            <p:ph type="title"/>
          </p:nvPr>
        </p:nvSpPr>
        <p:spPr>
          <a:xfrm>
            <a:off x="270150" y="158250"/>
            <a:ext cx="8030100" cy="11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900">
                <a:latin typeface="Oswald"/>
                <a:ea typeface="Oswald"/>
                <a:cs typeface="Oswald"/>
                <a:sym typeface="Oswald"/>
              </a:rPr>
              <a:t>Reply-клавиатуры и inline-кнопки: отличия и области применения</a:t>
            </a:r>
            <a:endParaRPr sz="59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5" name="Google Shape;135;g3af0de3b394_0_17"/>
          <p:cNvSpPr txBox="1"/>
          <p:nvPr/>
        </p:nvSpPr>
        <p:spPr>
          <a:xfrm>
            <a:off x="380100" y="1405625"/>
            <a:ext cx="8132100" cy="26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Пример формулирования  задачи в vibe-coding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«Сделай reply-клавиатуру с основными командами: </a:t>
            </a:r>
            <a:r>
              <a:rPr lang="ru" sz="15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Записаться</a:t>
            </a:r>
            <a:r>
              <a:rPr lang="ru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ru" sz="15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Цены</a:t>
            </a:r>
            <a:r>
              <a:rPr lang="ru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ru" sz="15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Связаться с менеджером</a:t>
            </a:r>
            <a:r>
              <a:rPr lang="ru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br>
              <a:rPr lang="ru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Эти команды бот обрабатывает по тексту сообщения.»</a:t>
            </a:r>
            <a:br>
              <a:rPr lang="ru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«В состоянии “главное меню” используем reply-кнопки как постоянный набор действий.</a:t>
            </a:r>
            <a:br>
              <a:rPr lang="ru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При нажатии на любую из них в коде идём в соответствующий сценарий.»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0" name="Google Shape;140;g3b1c012ce6d_0_9"/>
          <p:cNvCxnSpPr/>
          <p:nvPr/>
        </p:nvCxnSpPr>
        <p:spPr>
          <a:xfrm rot="10800000">
            <a:off x="6" y="4995738"/>
            <a:ext cx="670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g3b1c012ce6d_0_9"/>
          <p:cNvSpPr txBox="1"/>
          <p:nvPr/>
        </p:nvSpPr>
        <p:spPr>
          <a:xfrm>
            <a:off x="6063394" y="4827200"/>
            <a:ext cx="2864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УНИВЕРСИТЕТ ИСКУССТВЕННОГО ИНТЕЛЛЕКТА</a:t>
            </a:r>
            <a:endParaRPr b="0" i="0" sz="9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2" name="Google Shape;142;g3b1c012ce6d_0_9"/>
          <p:cNvSpPr txBox="1"/>
          <p:nvPr>
            <p:ph type="title"/>
          </p:nvPr>
        </p:nvSpPr>
        <p:spPr>
          <a:xfrm>
            <a:off x="213900" y="40475"/>
            <a:ext cx="8716200" cy="11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900">
                <a:latin typeface="Oswald"/>
                <a:ea typeface="Oswald"/>
                <a:cs typeface="Oswald"/>
                <a:sym typeface="Oswald"/>
              </a:rPr>
              <a:t>Reply-клавиатуры и inline-кнопки: отличия и области применения</a:t>
            </a:r>
            <a:endParaRPr sz="59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3" name="Google Shape;143;g3b1c012ce6d_0_9"/>
          <p:cNvSpPr txBox="1"/>
          <p:nvPr/>
        </p:nvSpPr>
        <p:spPr>
          <a:xfrm>
            <a:off x="380100" y="1005150"/>
            <a:ext cx="8454300" cy="4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Inline-кнопки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— это интерактивные элементы, которые появляются прямо под сообщением от бота и служат для моментального взаимодействия с ним. Это как «горячие клавиши», пришитые к конкретному сообщению.</a:t>
            </a:r>
            <a:endParaRPr sz="130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Когда использовать Inline-кнопки:</a:t>
            </a:r>
            <a:endParaRPr sz="1300">
              <a:solidFill>
                <a:srgbClr val="0F111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Montserrat"/>
              <a:buChar char="●"/>
            </a:pPr>
            <a:r>
              <a:rPr lang="ru" sz="1300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Для действий с объектом: Управление тем, что описано в сообщении.</a:t>
            </a:r>
            <a:endParaRPr sz="1300">
              <a:solidFill>
                <a:srgbClr val="0F111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Montserrat"/>
              <a:buChar char="○"/>
            </a:pPr>
            <a:r>
              <a:rPr i="1" lang="ru" sz="1300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Примеры:</a:t>
            </a:r>
            <a:r>
              <a:rPr lang="ru" sz="1300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" sz="1300">
                <a:solidFill>
                  <a:srgbClr val="0F1115"/>
                </a:solidFill>
                <a:highlight>
                  <a:srgbClr val="EBEEF2"/>
                </a:highlight>
                <a:latin typeface="Montserrat"/>
                <a:ea typeface="Montserrat"/>
                <a:cs typeface="Montserrat"/>
                <a:sym typeface="Montserrat"/>
              </a:rPr>
              <a:t>Забронировать этот номер</a:t>
            </a:r>
            <a:r>
              <a:rPr lang="ru" sz="1300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ru" sz="1300">
                <a:solidFill>
                  <a:srgbClr val="0F1115"/>
                </a:solidFill>
                <a:highlight>
                  <a:srgbClr val="EBEEF2"/>
                </a:highlight>
                <a:latin typeface="Montserrat"/>
                <a:ea typeface="Montserrat"/>
                <a:cs typeface="Montserrat"/>
                <a:sym typeface="Montserrat"/>
              </a:rPr>
              <a:t>Подробнее об услуге</a:t>
            </a:r>
            <a:r>
              <a:rPr lang="ru" sz="1300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ru" sz="1300">
                <a:solidFill>
                  <a:srgbClr val="0F1115"/>
                </a:solidFill>
                <a:highlight>
                  <a:srgbClr val="EBEEF2"/>
                </a:highlight>
                <a:latin typeface="Montserrat"/>
                <a:ea typeface="Montserrat"/>
                <a:cs typeface="Montserrat"/>
                <a:sym typeface="Montserrat"/>
              </a:rPr>
              <a:t>Добавить в корзину</a:t>
            </a:r>
            <a:r>
              <a:rPr lang="ru" sz="1300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>
              <a:solidFill>
                <a:srgbClr val="0F111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Montserrat"/>
              <a:buChar char="●"/>
            </a:pPr>
            <a:r>
              <a:rPr lang="ru" sz="1300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Для управления шагом сценария: Набор действий, логически следующих из текущего сообщения.</a:t>
            </a:r>
            <a:endParaRPr sz="1300">
              <a:solidFill>
                <a:srgbClr val="0F111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Montserrat"/>
              <a:buChar char="○"/>
            </a:pPr>
            <a:r>
              <a:rPr i="1" lang="ru" sz="1300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Примеры:</a:t>
            </a:r>
            <a:r>
              <a:rPr lang="ru" sz="1300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" sz="1300">
                <a:solidFill>
                  <a:srgbClr val="0F1115"/>
                </a:solidFill>
                <a:highlight>
                  <a:srgbClr val="EBEEF2"/>
                </a:highlight>
                <a:latin typeface="Montserrat"/>
                <a:ea typeface="Montserrat"/>
                <a:cs typeface="Montserrat"/>
                <a:sym typeface="Montserrat"/>
              </a:rPr>
              <a:t>Выбрать дату</a:t>
            </a:r>
            <a:r>
              <a:rPr lang="ru" sz="1300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ru" sz="1300">
                <a:solidFill>
                  <a:srgbClr val="0F1115"/>
                </a:solidFill>
                <a:highlight>
                  <a:srgbClr val="EBEEF2"/>
                </a:highlight>
                <a:latin typeface="Montserrat"/>
                <a:ea typeface="Montserrat"/>
                <a:cs typeface="Montserrat"/>
                <a:sym typeface="Montserrat"/>
              </a:rPr>
              <a:t>Подтвердить</a:t>
            </a:r>
            <a:r>
              <a:rPr lang="ru" sz="1300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ru" sz="1300">
                <a:solidFill>
                  <a:srgbClr val="0F1115"/>
                </a:solidFill>
                <a:highlight>
                  <a:srgbClr val="EBEEF2"/>
                </a:highlight>
                <a:latin typeface="Montserrat"/>
                <a:ea typeface="Montserrat"/>
                <a:cs typeface="Montserrat"/>
                <a:sym typeface="Montserrat"/>
              </a:rPr>
              <a:t>Следующий шаг</a:t>
            </a:r>
            <a:r>
              <a:rPr lang="ru" sz="1300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ru" sz="1300">
                <a:solidFill>
                  <a:srgbClr val="0F1115"/>
                </a:solidFill>
                <a:highlight>
                  <a:srgbClr val="EBEEF2"/>
                </a:highlight>
                <a:latin typeface="Montserrat"/>
                <a:ea typeface="Montserrat"/>
                <a:cs typeface="Montserrat"/>
                <a:sym typeface="Montserrat"/>
              </a:rPr>
              <a:t>Изменить</a:t>
            </a:r>
            <a:r>
              <a:rPr lang="ru" sz="1300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>
              <a:solidFill>
                <a:srgbClr val="0F111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Montserrat"/>
              <a:buChar char="●"/>
            </a:pPr>
            <a:r>
              <a:rPr lang="ru" sz="1300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Для встроенного мини-интерфейса: Простые элементы выбора или подтверждения прямо в чате.</a:t>
            </a:r>
            <a:endParaRPr sz="1300">
              <a:solidFill>
                <a:srgbClr val="0F111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300"/>
              <a:buFont typeface="Montserrat"/>
              <a:buChar char="○"/>
            </a:pPr>
            <a:r>
              <a:rPr i="1" lang="ru" sz="1300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Примеры:</a:t>
            </a:r>
            <a:r>
              <a:rPr lang="ru" sz="1300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 Выбор размера (</a:t>
            </a:r>
            <a:r>
              <a:rPr lang="ru" sz="1300">
                <a:solidFill>
                  <a:srgbClr val="0F1115"/>
                </a:solidFill>
                <a:highlight>
                  <a:srgbClr val="EBEEF2"/>
                </a:highlight>
                <a:latin typeface="Montserrat"/>
                <a:ea typeface="Montserrat"/>
                <a:cs typeface="Montserrat"/>
                <a:sym typeface="Montserrat"/>
              </a:rPr>
              <a:t>S / M / L</a:t>
            </a:r>
            <a:r>
              <a:rPr lang="ru" sz="1300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), подтверждение действия (</a:t>
            </a:r>
            <a:r>
              <a:rPr lang="ru" sz="1300">
                <a:solidFill>
                  <a:srgbClr val="0F1115"/>
                </a:solidFill>
                <a:highlight>
                  <a:srgbClr val="EBEEF2"/>
                </a:highlight>
                <a:latin typeface="Montserrat"/>
                <a:ea typeface="Montserrat"/>
                <a:cs typeface="Montserrat"/>
                <a:sym typeface="Montserrat"/>
              </a:rPr>
              <a:t>Да / Нет / Отмена</a:t>
            </a:r>
            <a:r>
              <a:rPr lang="ru" sz="1300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), переключение страниц (</a:t>
            </a:r>
            <a:r>
              <a:rPr lang="ru" sz="1300">
                <a:solidFill>
                  <a:srgbClr val="0F1115"/>
                </a:solidFill>
                <a:highlight>
                  <a:srgbClr val="EBEEF2"/>
                </a:highlight>
                <a:latin typeface="Montserrat"/>
                <a:ea typeface="Montserrat"/>
                <a:cs typeface="Montserrat"/>
                <a:sym typeface="Montserrat"/>
              </a:rPr>
              <a:t>← Назад | Далее →</a:t>
            </a:r>
            <a:r>
              <a:rPr lang="ru" sz="1300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).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8" name="Google Shape;148;g3b1c012ce6d_0_0"/>
          <p:cNvCxnSpPr/>
          <p:nvPr/>
        </p:nvCxnSpPr>
        <p:spPr>
          <a:xfrm rot="10800000">
            <a:off x="6" y="4995738"/>
            <a:ext cx="670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g3b1c012ce6d_0_0"/>
          <p:cNvSpPr txBox="1"/>
          <p:nvPr/>
        </p:nvSpPr>
        <p:spPr>
          <a:xfrm>
            <a:off x="6063394" y="4827200"/>
            <a:ext cx="2864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УНИВЕРСИТЕТ ИСКУССТВЕННОГО ИНТЕЛЛЕКТА</a:t>
            </a:r>
            <a:endParaRPr b="0" i="0" sz="9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0" name="Google Shape;150;g3b1c012ce6d_0_0"/>
          <p:cNvSpPr txBox="1"/>
          <p:nvPr>
            <p:ph type="title"/>
          </p:nvPr>
        </p:nvSpPr>
        <p:spPr>
          <a:xfrm>
            <a:off x="270150" y="0"/>
            <a:ext cx="8470800" cy="10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900">
                <a:latin typeface="Oswald"/>
                <a:ea typeface="Oswald"/>
                <a:cs typeface="Oswald"/>
                <a:sym typeface="Oswald"/>
              </a:rPr>
              <a:t>Reply-клавиатуры и inline-кнопки: отличия и области применения</a:t>
            </a:r>
            <a:endParaRPr sz="59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1" name="Google Shape;151;g3b1c012ce6d_0_0"/>
          <p:cNvSpPr txBox="1"/>
          <p:nvPr/>
        </p:nvSpPr>
        <p:spPr>
          <a:xfrm>
            <a:off x="403175" y="1083813"/>
            <a:ext cx="8470800" cy="3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Типичные примеры </a:t>
            </a: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Inline-кнопок</a:t>
            </a:r>
            <a:r>
              <a:rPr lang="ru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>
              <a:solidFill>
                <a:srgbClr val="0F111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Montserrat"/>
              <a:buChar char="●"/>
            </a:pPr>
            <a:r>
              <a:rPr lang="ru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Под карточкой товара/услуги:</a:t>
            </a:r>
            <a:br>
              <a:rPr lang="ru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>
                <a:solidFill>
                  <a:srgbClr val="0F1115"/>
                </a:solidFill>
                <a:highlight>
                  <a:srgbClr val="EBEEF2"/>
                </a:highlight>
                <a:latin typeface="Montserrat"/>
                <a:ea typeface="Montserrat"/>
                <a:cs typeface="Montserrat"/>
                <a:sym typeface="Montserrat"/>
              </a:rPr>
              <a:t>📋 Подробнее</a:t>
            </a:r>
            <a:r>
              <a:rPr lang="ru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">
                <a:solidFill>
                  <a:srgbClr val="0F1115"/>
                </a:solidFill>
                <a:highlight>
                  <a:srgbClr val="EBEEF2"/>
                </a:highlight>
                <a:latin typeface="Montserrat"/>
                <a:ea typeface="Montserrat"/>
                <a:cs typeface="Montserrat"/>
                <a:sym typeface="Montserrat"/>
              </a:rPr>
              <a:t>🖼️ Фото</a:t>
            </a:r>
            <a:r>
              <a:rPr lang="ru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">
                <a:solidFill>
                  <a:srgbClr val="0F1115"/>
                </a:solidFill>
                <a:highlight>
                  <a:srgbClr val="EBEEF2"/>
                </a:highlight>
                <a:latin typeface="Montserrat"/>
                <a:ea typeface="Montserrat"/>
                <a:cs typeface="Montserrat"/>
                <a:sym typeface="Montserrat"/>
              </a:rPr>
              <a:t>💰 Рассчитать стоимость</a:t>
            </a:r>
            <a:endParaRPr>
              <a:solidFill>
                <a:srgbClr val="0F1115"/>
              </a:solidFill>
              <a:highlight>
                <a:srgbClr val="EBEEF2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Montserrat"/>
              <a:buChar char="●"/>
            </a:pPr>
            <a:r>
              <a:rPr lang="ru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Для подтверждения заказа:</a:t>
            </a:r>
            <a:br>
              <a:rPr lang="ru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>
                <a:solidFill>
                  <a:srgbClr val="0F1115"/>
                </a:solidFill>
                <a:highlight>
                  <a:srgbClr val="EBEEF2"/>
                </a:highlight>
                <a:latin typeface="Montserrat"/>
                <a:ea typeface="Montserrat"/>
                <a:cs typeface="Montserrat"/>
                <a:sym typeface="Montserrat"/>
              </a:rPr>
              <a:t>✅ Подтвердить</a:t>
            </a:r>
            <a:r>
              <a:rPr lang="ru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">
                <a:solidFill>
                  <a:srgbClr val="0F1115"/>
                </a:solidFill>
                <a:highlight>
                  <a:srgbClr val="EBEEF2"/>
                </a:highlight>
                <a:latin typeface="Montserrat"/>
                <a:ea typeface="Montserrat"/>
                <a:cs typeface="Montserrat"/>
                <a:sym typeface="Montserrat"/>
              </a:rPr>
              <a:t>✏️ Изменить</a:t>
            </a:r>
            <a:r>
              <a:rPr lang="ru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">
                <a:solidFill>
                  <a:srgbClr val="0F1115"/>
                </a:solidFill>
                <a:highlight>
                  <a:srgbClr val="EBEEF2"/>
                </a:highlight>
                <a:latin typeface="Montserrat"/>
                <a:ea typeface="Montserrat"/>
                <a:cs typeface="Montserrat"/>
                <a:sym typeface="Montserrat"/>
              </a:rPr>
              <a:t>❌ Отменить</a:t>
            </a:r>
            <a:endParaRPr>
              <a:solidFill>
                <a:srgbClr val="0F1115"/>
              </a:solidFill>
              <a:highlight>
                <a:srgbClr val="EBEEF2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Montserrat"/>
              <a:buChar char="●"/>
            </a:pPr>
            <a:r>
              <a:rPr lang="ru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Для выбора опции:</a:t>
            </a:r>
            <a:br>
              <a:rPr lang="ru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>
                <a:solidFill>
                  <a:srgbClr val="0F1115"/>
                </a:solidFill>
                <a:highlight>
                  <a:srgbClr val="EBEEF2"/>
                </a:highlight>
                <a:latin typeface="Montserrat"/>
                <a:ea typeface="Montserrat"/>
                <a:cs typeface="Montserrat"/>
                <a:sym typeface="Montserrat"/>
              </a:rPr>
              <a:t>🗣️ Озвучить это сообщение</a:t>
            </a:r>
            <a:r>
              <a:rPr lang="ru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">
                <a:solidFill>
                  <a:srgbClr val="0F1115"/>
                </a:solidFill>
                <a:highlight>
                  <a:srgbClr val="EBEEF2"/>
                </a:highlight>
                <a:latin typeface="Montserrat"/>
                <a:ea typeface="Montserrat"/>
                <a:cs typeface="Montserrat"/>
                <a:sym typeface="Montserrat"/>
              </a:rPr>
              <a:t>📅 Выбрать эту дату</a:t>
            </a:r>
            <a:r>
              <a:rPr lang="ru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">
                <a:solidFill>
                  <a:srgbClr val="0F1115"/>
                </a:solidFill>
                <a:highlight>
                  <a:srgbClr val="EBEEF2"/>
                </a:highlight>
                <a:latin typeface="Montserrat"/>
                <a:ea typeface="Montserrat"/>
                <a:cs typeface="Montserrat"/>
                <a:sym typeface="Montserrat"/>
              </a:rPr>
              <a:t>🔄 Обновить статус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6" name="Google Shape;156;g3b1c012ce6d_0_38"/>
          <p:cNvCxnSpPr/>
          <p:nvPr/>
        </p:nvCxnSpPr>
        <p:spPr>
          <a:xfrm rot="10800000">
            <a:off x="6" y="4995738"/>
            <a:ext cx="670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g3b1c012ce6d_0_38"/>
          <p:cNvSpPr txBox="1"/>
          <p:nvPr/>
        </p:nvSpPr>
        <p:spPr>
          <a:xfrm>
            <a:off x="6063394" y="4827200"/>
            <a:ext cx="2864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УНИВЕРСИТЕТ ИСКУССТВЕННОГО ИНТЕЛЛЕКТА</a:t>
            </a:r>
            <a:endParaRPr b="0" i="0" sz="9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8" name="Google Shape;158;g3b1c012ce6d_0_38"/>
          <p:cNvSpPr txBox="1"/>
          <p:nvPr>
            <p:ph type="title"/>
          </p:nvPr>
        </p:nvSpPr>
        <p:spPr>
          <a:xfrm>
            <a:off x="212025" y="87575"/>
            <a:ext cx="8716200" cy="11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900">
                <a:latin typeface="Oswald"/>
                <a:ea typeface="Oswald"/>
                <a:cs typeface="Oswald"/>
                <a:sym typeface="Oswald"/>
              </a:rPr>
              <a:t>Reply-клавиатуры и inline-кнопки: отличия и области применения</a:t>
            </a:r>
            <a:endParaRPr sz="59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9" name="Google Shape;159;g3b1c012ce6d_0_38"/>
          <p:cNvSpPr txBox="1"/>
          <p:nvPr/>
        </p:nvSpPr>
        <p:spPr>
          <a:xfrm>
            <a:off x="380100" y="1099375"/>
            <a:ext cx="8454300" cy="41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00">
                <a:solidFill>
                  <a:srgbClr val="0F1115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Самая важная деталь: как это работает «под капотом»</a:t>
            </a:r>
            <a:endParaRPr b="1" sz="1300">
              <a:solidFill>
                <a:srgbClr val="0F1115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0F1115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Когда пользователь нажимает Inline-кнопку Telegram отправляет боту не текст, а callback-событие.</a:t>
            </a:r>
            <a:endParaRPr>
              <a:solidFill>
                <a:srgbClr val="0F111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Это маленький “служебный код”, чтобы bot понял:</a:t>
            </a:r>
            <a:endParaRPr>
              <a:solidFill>
                <a:srgbClr val="0F111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Montserrat"/>
              <a:buAutoNum type="arabicPeriod"/>
            </a:pPr>
            <a:r>
              <a:rPr lang="ru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Какое действие нужно выполнить </a:t>
            </a:r>
            <a:endParaRPr>
              <a:solidFill>
                <a:srgbClr val="0F111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Montserrat"/>
              <a:buAutoNum type="arabicPeriod"/>
            </a:pPr>
            <a:r>
              <a:rPr lang="ru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На каком объекте его выполнить 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Примеры:</a:t>
            </a:r>
            <a:endParaRPr>
              <a:solidFill>
                <a:srgbClr val="0F111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"select_room_101" — выбрали номер 101</a:t>
            </a:r>
            <a:endParaRPr>
              <a:solidFill>
                <a:srgbClr val="0F111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"speak_message" — озвучить текст</a:t>
            </a:r>
            <a:endParaRPr>
              <a:solidFill>
                <a:srgbClr val="0F111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"next_page_2" — открыть вторую страницу вариантов</a:t>
            </a:r>
            <a:endParaRPr>
              <a:solidFill>
                <a:srgbClr val="0F111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F1115"/>
                </a:solidFill>
                <a:latin typeface="Montserrat"/>
                <a:ea typeface="Montserrat"/>
                <a:cs typeface="Montserrat"/>
                <a:sym typeface="Montserrat"/>
              </a:rPr>
              <a:t>callback_data → это просто то значение, которое мы передаём вместе с inline-кнопкой, чтобы бот понимал действие.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F11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4" name="Google Shape;164;g3b1c012ce6d_0_46"/>
          <p:cNvCxnSpPr/>
          <p:nvPr/>
        </p:nvCxnSpPr>
        <p:spPr>
          <a:xfrm rot="10800000">
            <a:off x="6" y="4995738"/>
            <a:ext cx="670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g3b1c012ce6d_0_46"/>
          <p:cNvSpPr txBox="1"/>
          <p:nvPr/>
        </p:nvSpPr>
        <p:spPr>
          <a:xfrm>
            <a:off x="6063394" y="4827200"/>
            <a:ext cx="2864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УНИВЕРСИТЕТ ИСКУССТВЕННОГО ИНТЕЛЛЕКТА</a:t>
            </a:r>
            <a:endParaRPr b="0" i="0" sz="9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6" name="Google Shape;166;g3b1c012ce6d_0_46"/>
          <p:cNvSpPr txBox="1"/>
          <p:nvPr>
            <p:ph type="title"/>
          </p:nvPr>
        </p:nvSpPr>
        <p:spPr>
          <a:xfrm>
            <a:off x="270150" y="0"/>
            <a:ext cx="8470800" cy="10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900">
                <a:latin typeface="Oswald"/>
                <a:ea typeface="Oswald"/>
                <a:cs typeface="Oswald"/>
                <a:sym typeface="Oswald"/>
              </a:rPr>
              <a:t>Reply-клавиатуры и inline-кнопки: отличия и области применения</a:t>
            </a:r>
            <a:endParaRPr sz="59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7" name="Google Shape;167;g3b1c012ce6d_0_46"/>
          <p:cNvSpPr txBox="1"/>
          <p:nvPr/>
        </p:nvSpPr>
        <p:spPr>
          <a:xfrm>
            <a:off x="403175" y="1060200"/>
            <a:ext cx="8470800" cy="3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Пример формулирования  задачи в vibe-coding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«Под каждым сообщением с описанием номера сделай inline-кнопки:</a:t>
            </a:r>
            <a:b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Подробнее</a:t>
            </a: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ru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Забронировать</a:t>
            </a: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b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«К кнопке </a:t>
            </a:r>
            <a:r>
              <a:rPr lang="ru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Озвучить</a:t>
            </a: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привяжи действие: озвучить текст именно этого сообщения.</a:t>
            </a:r>
            <a:b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Это inline-кнопка, а не команда в общем меню.»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6fb98f1f35_0_0"/>
          <p:cNvSpPr txBox="1"/>
          <p:nvPr/>
        </p:nvSpPr>
        <p:spPr>
          <a:xfrm>
            <a:off x="279550" y="2811250"/>
            <a:ext cx="5476500" cy="20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F111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br>
              <a:rPr b="0" i="0" lang="ru" sz="1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3" name="Google Shape;173;g36fb98f1f35_0_0"/>
          <p:cNvCxnSpPr/>
          <p:nvPr/>
        </p:nvCxnSpPr>
        <p:spPr>
          <a:xfrm rot="10800000">
            <a:off x="10631" y="247463"/>
            <a:ext cx="670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g36fb98f1f35_0_0"/>
          <p:cNvSpPr txBox="1"/>
          <p:nvPr/>
        </p:nvSpPr>
        <p:spPr>
          <a:xfrm>
            <a:off x="6063394" y="118200"/>
            <a:ext cx="2864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УНИВЕРСИТЕТ ИСКУССТВЕННОГО ИНТЕЛЛЕКТА</a:t>
            </a:r>
            <a:endParaRPr b="0" i="0" sz="9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5" name="Google Shape;175;g36fb98f1f35_0_0"/>
          <p:cNvSpPr txBox="1"/>
          <p:nvPr/>
        </p:nvSpPr>
        <p:spPr>
          <a:xfrm>
            <a:off x="200075" y="247475"/>
            <a:ext cx="6131100" cy="11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9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Reply-клавиатуры и inline-кнопки: отличия и области применения</a:t>
            </a:r>
            <a:endParaRPr i="0" sz="82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76" name="Google Shape;176;g36fb98f1f35_0_0" title="ычс.jpg"/>
          <p:cNvPicPr preferRelativeResize="0"/>
          <p:nvPr/>
        </p:nvPicPr>
        <p:blipFill rotWithShape="1">
          <a:blip r:embed="rId3">
            <a:alphaModFix/>
          </a:blip>
          <a:srcRect b="0" l="27266" r="36421" t="0"/>
          <a:stretch/>
        </p:blipFill>
        <p:spPr>
          <a:xfrm>
            <a:off x="6187900" y="531975"/>
            <a:ext cx="2740198" cy="46115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7" name="Google Shape;177;g36fb98f1f35_0_0"/>
          <p:cNvGraphicFramePr/>
          <p:nvPr/>
        </p:nvGraphicFramePr>
        <p:xfrm>
          <a:off x="279525" y="1391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{CEE7211F-E68C-4D37-83B1-AD100F4D14D2}</a:tableStyleId>
              </a:tblPr>
              <a:tblGrid>
                <a:gridCol w="1582750"/>
                <a:gridCol w="2222100"/>
                <a:gridCol w="2058375"/>
              </a:tblGrid>
              <a:tr h="398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>
                          <a:solidFill>
                            <a:srgbClr val="0F111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Особенность</a:t>
                      </a:r>
                      <a:endParaRPr b="1" sz="1200">
                        <a:solidFill>
                          <a:srgbClr val="0F111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01600" marB="101600" marR="152400" marL="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>
                          <a:solidFill>
                            <a:srgbClr val="0F111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Reply-клавиатура</a:t>
                      </a:r>
                      <a:endParaRPr b="1" sz="1200">
                        <a:solidFill>
                          <a:srgbClr val="0F111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01600" marB="101600" marR="152400" marL="1524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>
                          <a:solidFill>
                            <a:srgbClr val="0F111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Inline-кнопки</a:t>
                      </a:r>
                      <a:endParaRPr b="1" sz="1200">
                        <a:solidFill>
                          <a:srgbClr val="0F111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01600" marB="101600" marR="152400" marL="1524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0F111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Расположение</a:t>
                      </a:r>
                      <a:endParaRPr sz="1200">
                        <a:solidFill>
                          <a:srgbClr val="0F111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01600" marB="101600" marR="152400" marL="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0F111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Внизу, вместо клавиатуры. Глобальное.</a:t>
                      </a:r>
                      <a:endParaRPr sz="1200">
                        <a:solidFill>
                          <a:srgbClr val="0F111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01600" marB="101600" marR="152400" marL="1524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0F111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Под конкретным сообщением. Контекстное.</a:t>
                      </a:r>
                      <a:endParaRPr sz="1200">
                        <a:solidFill>
                          <a:srgbClr val="0F111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01600" marB="101600" marR="0" marL="1524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0F111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Что отправляет</a:t>
                      </a:r>
                      <a:endParaRPr sz="1200">
                        <a:solidFill>
                          <a:srgbClr val="0F111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01600" marB="101600" marR="152400" marL="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0F111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Текст (как если бы его написал пользователь).</a:t>
                      </a:r>
                      <a:endParaRPr sz="1200">
                        <a:solidFill>
                          <a:srgbClr val="0F111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01600" marB="101600" marR="152400" marL="1524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0F111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Служебный сигнал (callback).</a:t>
                      </a:r>
                      <a:endParaRPr sz="1200">
                        <a:solidFill>
                          <a:srgbClr val="0F111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01600" marB="101600" marR="0" marL="1524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0F111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Аналогия</a:t>
                      </a:r>
                      <a:endParaRPr sz="1200">
                        <a:solidFill>
                          <a:srgbClr val="0F111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01600" marB="101600" marR="152400" marL="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0F111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Главное меню приложения (всегда под рукой).</a:t>
                      </a:r>
                      <a:endParaRPr sz="1200">
                        <a:solidFill>
                          <a:srgbClr val="0F111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01600" marB="101600" marR="152400" marL="1524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0F111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Контекстное меню или кнопки действий на конкретном экране.</a:t>
                      </a:r>
                      <a:endParaRPr sz="1200">
                        <a:solidFill>
                          <a:srgbClr val="0F111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01600" marB="101600" marR="0" marL="1524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5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0F111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Когда использовать</a:t>
                      </a:r>
                      <a:endParaRPr sz="1200">
                        <a:solidFill>
                          <a:srgbClr val="0F111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01600" marB="101600" marR="152400" marL="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0F111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Для навигации по основным разделам бота.</a:t>
                      </a:r>
                      <a:endParaRPr sz="1200">
                        <a:solidFill>
                          <a:srgbClr val="0F111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01600" marB="101600" marR="152400" marL="1524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0F111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Для взаимодействия с конкретным контентом или шагом диалога.</a:t>
                      </a:r>
                      <a:endParaRPr sz="1200">
                        <a:solidFill>
                          <a:srgbClr val="0F111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01600" marB="101600" marR="0" marL="1524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2" name="Google Shape;182;g3b1c012ce6d_0_31"/>
          <p:cNvCxnSpPr/>
          <p:nvPr/>
        </p:nvCxnSpPr>
        <p:spPr>
          <a:xfrm rot="10800000">
            <a:off x="6" y="4995738"/>
            <a:ext cx="670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g3b1c012ce6d_0_31"/>
          <p:cNvSpPr txBox="1"/>
          <p:nvPr/>
        </p:nvSpPr>
        <p:spPr>
          <a:xfrm>
            <a:off x="6063394" y="4827200"/>
            <a:ext cx="2864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УНИВЕРСИТЕТ ИСКУССТВЕННОГО ИНТЕЛЛЕКТА</a:t>
            </a:r>
            <a:endParaRPr b="0" i="0" sz="9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4" name="Google Shape;184;g3b1c012ce6d_0_31"/>
          <p:cNvSpPr txBox="1"/>
          <p:nvPr>
            <p:ph type="title"/>
          </p:nvPr>
        </p:nvSpPr>
        <p:spPr>
          <a:xfrm>
            <a:off x="270150" y="0"/>
            <a:ext cx="8470800" cy="10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900">
                <a:latin typeface="Oswald"/>
                <a:ea typeface="Oswald"/>
                <a:cs typeface="Oswald"/>
                <a:sym typeface="Oswald"/>
              </a:rPr>
              <a:t>Reply-клавиатуры и inline-кнопки: отличия и области применения</a:t>
            </a:r>
            <a:endParaRPr sz="59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5" name="Google Shape;185;g3b1c012ce6d_0_31"/>
          <p:cNvSpPr txBox="1"/>
          <p:nvPr/>
        </p:nvSpPr>
        <p:spPr>
          <a:xfrm>
            <a:off x="403175" y="1060200"/>
            <a:ext cx="8470800" cy="3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Типичные ошибки при работе с кнопками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Чтобы интерфейс был удобным и предсказуемым, избегаем следующих ошибок: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❌ Ошибка 1. Слишком много кнопок в reply-клавиатуре</a:t>
            </a:r>
            <a:b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Новички часто лепят туда 12–20 кнопок.</a:t>
            </a:r>
            <a:b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Итог: каша, пользователь теряется.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Как правильно:</a:t>
            </a:r>
            <a:b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3–6 кнопок — максимум для одного экрана.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❌ Ошибка 2. Использовать reply там, где нужно inline</a:t>
            </a:r>
            <a:b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Например:</a:t>
            </a:r>
            <a:b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“Подробнее”, “Заказать”, “Показать фото”, “Озвучить”.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Reply делает эти кнопки “глобальными”, хотя действие относится только к одному сообщению.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g3af0de3b394_0_60" title="data-analysis-business-finance-concept_31965-4122.jpg"/>
          <p:cNvPicPr preferRelativeResize="0"/>
          <p:nvPr/>
        </p:nvPicPr>
        <p:blipFill rotWithShape="1">
          <a:blip r:embed="rId3">
            <a:alphaModFix/>
          </a:blip>
          <a:srcRect b="0" l="28725" r="57551" t="0"/>
          <a:stretch/>
        </p:blipFill>
        <p:spPr>
          <a:xfrm>
            <a:off x="8169205" y="520775"/>
            <a:ext cx="943369" cy="44366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g3af0de3b394_0_60"/>
          <p:cNvCxnSpPr/>
          <p:nvPr/>
        </p:nvCxnSpPr>
        <p:spPr>
          <a:xfrm rot="10800000">
            <a:off x="10631" y="168838"/>
            <a:ext cx="670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g3af0de3b394_0_60"/>
          <p:cNvSpPr txBox="1"/>
          <p:nvPr/>
        </p:nvSpPr>
        <p:spPr>
          <a:xfrm>
            <a:off x="6063394" y="39575"/>
            <a:ext cx="2864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УНИВЕРСИТЕТ ИСКУССТВЕННОГО ИНТЕЛЛЕКТА</a:t>
            </a:r>
            <a:endParaRPr b="0" i="0" sz="9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93" name="Google Shape;193;g3af0de3b394_0_60" title="FHKG.jpg"/>
          <p:cNvPicPr preferRelativeResize="0"/>
          <p:nvPr/>
        </p:nvPicPr>
        <p:blipFill rotWithShape="1">
          <a:blip r:embed="rId4">
            <a:alphaModFix/>
          </a:blip>
          <a:srcRect b="0" l="28607" r="49210" t="0"/>
          <a:stretch/>
        </p:blipFill>
        <p:spPr>
          <a:xfrm flipH="1">
            <a:off x="6661350" y="520775"/>
            <a:ext cx="1475425" cy="443667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af0de3b394_0_60"/>
          <p:cNvSpPr txBox="1"/>
          <p:nvPr/>
        </p:nvSpPr>
        <p:spPr>
          <a:xfrm>
            <a:off x="282700" y="168850"/>
            <a:ext cx="64308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Типы меню и их использование в ботах: </a:t>
            </a:r>
            <a:r>
              <a:rPr lang="ru" sz="3000">
                <a:solidFill>
                  <a:srgbClr val="434343"/>
                </a:solidFill>
                <a:latin typeface="Oswald"/>
                <a:ea typeface="Oswald"/>
                <a:cs typeface="Oswald"/>
                <a:sym typeface="Oswald"/>
              </a:rPr>
              <a:t>Меню команд бота</a:t>
            </a:r>
            <a:endParaRPr i="0" sz="69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5" name="Google Shape;195;g3af0de3b394_0_60"/>
          <p:cNvSpPr txBox="1"/>
          <p:nvPr/>
        </p:nvSpPr>
        <p:spPr>
          <a:xfrm>
            <a:off x="424050" y="1217175"/>
            <a:ext cx="595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g3af0de3b394_0_60"/>
          <p:cNvSpPr txBox="1"/>
          <p:nvPr/>
        </p:nvSpPr>
        <p:spPr>
          <a:xfrm>
            <a:off x="488675" y="921125"/>
            <a:ext cx="592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g3af0de3b394_0_60"/>
          <p:cNvSpPr txBox="1"/>
          <p:nvPr/>
        </p:nvSpPr>
        <p:spPr>
          <a:xfrm>
            <a:off x="369725" y="1217175"/>
            <a:ext cx="6259200" cy="3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</a:t>
            </a: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од “меню” понимаем список “/команд”, который Telegram показывает пользователю.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Примеры команд: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ru" sz="13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/start</a:t>
            </a: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запуск бота или возврат в начальное состояние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ru" sz="13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/help</a:t>
            </a: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краткая справка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ru" sz="13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/faq</a:t>
            </a: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частые вопросы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ru" sz="13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/support</a:t>
            </a: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связь с поддержкой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ru" sz="13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/reset</a:t>
            </a: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сброс состояния / начать сначала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Зачем нужно меню команд, если есть кнопки</a:t>
            </a:r>
            <a:b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/команда — это внешний “якорь”, который: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всегда доступен пользователю;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не зависит от того, где он сейчас находится в сценарии;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позволяет быстро попасть в нужное место, даже если кнопки “сломались” или пользователь всё перелистал.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2" name="Google Shape;202;g391994afbcf_0_14"/>
          <p:cNvCxnSpPr/>
          <p:nvPr/>
        </p:nvCxnSpPr>
        <p:spPr>
          <a:xfrm rot="10800000">
            <a:off x="10631" y="4791563"/>
            <a:ext cx="670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g391994afbcf_0_14"/>
          <p:cNvSpPr txBox="1"/>
          <p:nvPr/>
        </p:nvSpPr>
        <p:spPr>
          <a:xfrm>
            <a:off x="6063394" y="4662300"/>
            <a:ext cx="2864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УНИВЕРСИТЕТ ИСКУССТВЕННОГО ИНТЕЛЛЕКТА</a:t>
            </a:r>
            <a:endParaRPr b="0" i="0" sz="9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4" name="Google Shape;204;g391994afbcf_0_14"/>
          <p:cNvSpPr txBox="1"/>
          <p:nvPr>
            <p:ph type="title"/>
          </p:nvPr>
        </p:nvSpPr>
        <p:spPr>
          <a:xfrm>
            <a:off x="270150" y="0"/>
            <a:ext cx="86580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>
                <a:latin typeface="Oswald"/>
                <a:ea typeface="Oswald"/>
                <a:cs typeface="Oswald"/>
                <a:sym typeface="Oswald"/>
              </a:rPr>
              <a:t>Типы меню и их использование в ботах: </a:t>
            </a:r>
            <a:r>
              <a:rPr lang="ru" sz="3000">
                <a:solidFill>
                  <a:srgbClr val="434343"/>
                </a:solidFill>
                <a:latin typeface="Oswald"/>
                <a:ea typeface="Oswald"/>
                <a:cs typeface="Oswald"/>
                <a:sym typeface="Oswald"/>
              </a:rPr>
              <a:t>Меню команд бота</a:t>
            </a:r>
            <a:endParaRPr sz="30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5" name="Google Shape;205;g391994afbcf_0_14"/>
          <p:cNvSpPr txBox="1"/>
          <p:nvPr/>
        </p:nvSpPr>
        <p:spPr>
          <a:xfrm>
            <a:off x="349275" y="767875"/>
            <a:ext cx="4159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rgbClr val="0F111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g391994afbcf_0_14"/>
          <p:cNvSpPr txBox="1"/>
          <p:nvPr/>
        </p:nvSpPr>
        <p:spPr>
          <a:xfrm>
            <a:off x="435100" y="767875"/>
            <a:ext cx="8226300" cy="3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Меню команд — это не “всё подряд”, а набор опорных точек, к которым пользователь может вернуться в любой момент.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Важно зафиксировать базовое правило: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Каждая /команда должна вести в конкретный сценарий.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Хорошие правила: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Минимум, но по делу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Понятные названия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Каждая команда = конкретное действие или сценарий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Команда как “спасательный круг”</a:t>
            </a:r>
            <a:br>
              <a:rPr lang="ru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1" name="Google Shape;211;g391994afbcf_0_33"/>
          <p:cNvCxnSpPr/>
          <p:nvPr/>
        </p:nvCxnSpPr>
        <p:spPr>
          <a:xfrm rot="10800000">
            <a:off x="10631" y="4791563"/>
            <a:ext cx="670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" name="Google Shape;212;g391994afbcf_0_33"/>
          <p:cNvSpPr txBox="1"/>
          <p:nvPr/>
        </p:nvSpPr>
        <p:spPr>
          <a:xfrm>
            <a:off x="6063394" y="4662300"/>
            <a:ext cx="2864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УНИВЕРСИТЕТ ИСКУССТВЕННОГО ИНТЕЛЛЕКТА</a:t>
            </a:r>
            <a:endParaRPr b="0" i="0" sz="9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3" name="Google Shape;213;g391994afbcf_0_33"/>
          <p:cNvSpPr txBox="1"/>
          <p:nvPr>
            <p:ph type="title"/>
          </p:nvPr>
        </p:nvSpPr>
        <p:spPr>
          <a:xfrm>
            <a:off x="270150" y="0"/>
            <a:ext cx="84708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900">
                <a:latin typeface="Oswald"/>
                <a:ea typeface="Oswald"/>
                <a:cs typeface="Oswald"/>
                <a:sym typeface="Oswald"/>
              </a:rPr>
              <a:t>Типы меню и их использование в ботах: </a:t>
            </a:r>
            <a:r>
              <a:rPr lang="ru" sz="2900">
                <a:solidFill>
                  <a:srgbClr val="434343"/>
                </a:solidFill>
                <a:latin typeface="Oswald"/>
                <a:ea typeface="Oswald"/>
                <a:cs typeface="Oswald"/>
                <a:sym typeface="Oswald"/>
              </a:rPr>
              <a:t>Меню команд бота</a:t>
            </a:r>
            <a:endParaRPr sz="29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4" name="Google Shape;214;g391994afbcf_0_33"/>
          <p:cNvSpPr txBox="1"/>
          <p:nvPr/>
        </p:nvSpPr>
        <p:spPr>
          <a:xfrm>
            <a:off x="341425" y="518275"/>
            <a:ext cx="8250900" cy="44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Базовый набор, который можно сделать “по умолчанию”: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 sz="11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/start</a:t>
            </a:r>
            <a:br>
              <a:rPr lang="ru" sz="11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Запускает бота, показывает приветствие и главное меню (reply-клавиатура, если используете её).</a:t>
            </a:r>
            <a:br>
              <a:rPr lang="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Часто также сбрасывает состояние.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 sz="11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/help</a:t>
            </a:r>
            <a:br>
              <a:rPr lang="ru" sz="11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Кратко объясняет:</a:t>
            </a:r>
            <a:br>
              <a:rPr lang="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что умеет бот;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○"/>
            </a:pPr>
            <a:r>
              <a:rPr lang="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какие есть основные разделы;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○"/>
            </a:pPr>
            <a:r>
              <a:rPr lang="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что делать, если “что-то пошло не так”.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 sz="11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/faq</a:t>
            </a:r>
            <a:br>
              <a:rPr lang="ru" sz="11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Либо: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○"/>
            </a:pPr>
            <a:r>
              <a:rPr lang="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выдаёт список частых вопросов с краткими ответами,</a:t>
            </a:r>
            <a:br>
              <a:rPr lang="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либо: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○"/>
            </a:pPr>
            <a:r>
              <a:rPr lang="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открывает сценарий с выбором вопросов (можно дальше уже через inline-кнопки).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 sz="11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/support</a:t>
            </a:r>
            <a:r>
              <a:rPr lang="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или </a:t>
            </a:r>
            <a:r>
              <a:rPr lang="ru" sz="11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/contact</a:t>
            </a:r>
            <a:br>
              <a:rPr lang="ru" sz="11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Даёт способ связаться с живым человеком: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○"/>
            </a:pPr>
            <a:r>
              <a:rPr lang="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контакт,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○"/>
            </a:pPr>
            <a:r>
              <a:rPr lang="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ссылка,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○"/>
            </a:pPr>
            <a:r>
              <a:rPr lang="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кнопка “Написать оператору”.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 sz="11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/reset</a:t>
            </a:r>
            <a:r>
              <a:rPr lang="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или </a:t>
            </a:r>
            <a:r>
              <a:rPr lang="ru" sz="11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/restart</a:t>
            </a:r>
            <a:br>
              <a:rPr lang="ru" sz="11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Полный сброс сценария, начало “с нуля”, полезно, если пользователь всё сломал.</a:t>
            </a:r>
            <a:endParaRPr sz="1650">
              <a:solidFill>
                <a:srgbClr val="0F1115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9" name="Google Shape;219;g391994afbcf_0_42"/>
          <p:cNvCxnSpPr/>
          <p:nvPr/>
        </p:nvCxnSpPr>
        <p:spPr>
          <a:xfrm rot="10800000">
            <a:off x="10631" y="4791563"/>
            <a:ext cx="670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g391994afbcf_0_42"/>
          <p:cNvSpPr txBox="1"/>
          <p:nvPr/>
        </p:nvSpPr>
        <p:spPr>
          <a:xfrm>
            <a:off x="6063394" y="4662300"/>
            <a:ext cx="2864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УНИВЕРСИТЕТ ИСКУССТВЕННОГО ИНТЕЛЛЕКТА</a:t>
            </a:r>
            <a:endParaRPr b="0" i="0" sz="9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1" name="Google Shape;221;g391994afbcf_0_42"/>
          <p:cNvSpPr txBox="1"/>
          <p:nvPr>
            <p:ph type="title"/>
          </p:nvPr>
        </p:nvSpPr>
        <p:spPr>
          <a:xfrm>
            <a:off x="270150" y="0"/>
            <a:ext cx="8470800" cy="10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>
                <a:latin typeface="Oswald"/>
                <a:ea typeface="Oswald"/>
                <a:cs typeface="Oswald"/>
                <a:sym typeface="Oswald"/>
              </a:rPr>
              <a:t>Типы меню и их использование в ботах: </a:t>
            </a:r>
            <a:r>
              <a:rPr lang="ru" sz="3000">
                <a:solidFill>
                  <a:srgbClr val="434343"/>
                </a:solidFill>
                <a:latin typeface="Oswald"/>
                <a:ea typeface="Oswald"/>
                <a:cs typeface="Oswald"/>
                <a:sym typeface="Oswald"/>
              </a:rPr>
              <a:t>Меню команд бота</a:t>
            </a:r>
            <a:endParaRPr sz="59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2" name="Google Shape;222;g391994afbcf_0_42"/>
          <p:cNvSpPr txBox="1"/>
          <p:nvPr/>
        </p:nvSpPr>
        <p:spPr>
          <a:xfrm>
            <a:off x="392625" y="965875"/>
            <a:ext cx="8237400" cy="38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chemeClr val="dk1"/>
                </a:solidFill>
              </a:rPr>
              <a:t>Как описывать меню команд в vibe-coding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</a:t>
            </a: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ажно не просто сказать “добавь команды”, а чётко описать: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какие команды нужны;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что каждая команда делает;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Примеры формулировок: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«Сделай меню /команд для бота:</a:t>
            </a:r>
            <a:b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" sz="12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/start</a:t>
            </a: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запуск бота, показ приветствия и главного меню;</a:t>
            </a:r>
            <a:b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" sz="12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/help</a:t>
            </a: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короткая инструкция по возможностям бота;</a:t>
            </a:r>
            <a:b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" sz="12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/faq</a:t>
            </a: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список частых вопросов с краткими ответами;</a:t>
            </a:r>
            <a:b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" sz="12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/support</a:t>
            </a: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информация, как связаться с менеджером.»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«Команда </a:t>
            </a:r>
            <a:r>
              <a:rPr lang="ru" sz="12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/start</a:t>
            </a: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всегда должна:</a:t>
            </a:r>
            <a:b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сбрасывать текущий сценарий;</a:t>
            </a:r>
            <a:b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очищать состояние пользователя;</a:t>
            </a:r>
            <a:b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отправлять приветственное сообщение;</a:t>
            </a:r>
            <a:b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показывать главное меню в виде reply-клавиатуры.»  и т.д.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7" name="Google Shape;227;g3b1edf8e81e_0_2"/>
          <p:cNvCxnSpPr/>
          <p:nvPr/>
        </p:nvCxnSpPr>
        <p:spPr>
          <a:xfrm rot="10800000">
            <a:off x="10631" y="4791563"/>
            <a:ext cx="670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g3b1edf8e81e_0_2"/>
          <p:cNvSpPr txBox="1"/>
          <p:nvPr/>
        </p:nvSpPr>
        <p:spPr>
          <a:xfrm>
            <a:off x="6063394" y="4662300"/>
            <a:ext cx="2864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УНИВЕРСИТЕТ ИСКУССТВЕННОГО ИНТЕЛЛЕКТА</a:t>
            </a:r>
            <a:endParaRPr b="0" i="0" sz="9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9" name="Google Shape;229;g3b1edf8e81e_0_2"/>
          <p:cNvSpPr txBox="1"/>
          <p:nvPr>
            <p:ph type="title"/>
          </p:nvPr>
        </p:nvSpPr>
        <p:spPr>
          <a:xfrm>
            <a:off x="270150" y="0"/>
            <a:ext cx="86580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>
                <a:latin typeface="Oswald"/>
                <a:ea typeface="Oswald"/>
                <a:cs typeface="Oswald"/>
                <a:sym typeface="Oswald"/>
              </a:rPr>
              <a:t>Типы меню и их использование в ботах: </a:t>
            </a:r>
            <a:r>
              <a:rPr lang="ru" sz="3000">
                <a:solidFill>
                  <a:srgbClr val="434343"/>
                </a:solidFill>
                <a:latin typeface="Oswald"/>
                <a:ea typeface="Oswald"/>
                <a:cs typeface="Oswald"/>
                <a:sym typeface="Oswald"/>
              </a:rPr>
              <a:t>Меню команд бота</a:t>
            </a:r>
            <a:endParaRPr sz="59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30" name="Google Shape;230;g3b1edf8e81e_0_2"/>
          <p:cNvSpPr txBox="1"/>
          <p:nvPr/>
        </p:nvSpPr>
        <p:spPr>
          <a:xfrm>
            <a:off x="392625" y="612600"/>
            <a:ext cx="8237400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00">
                <a:solidFill>
                  <a:schemeClr val="dk1"/>
                </a:solidFill>
              </a:rPr>
              <a:t> Как /команды, reply и inline работают вместе в сценариях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</a:rPr>
              <a:t>Чтобы увидеть целостную логику, удобно представить связку так: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/команда → reply-меню → сценарий → inline-кнопки внутри шагов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</a:rPr>
              <a:t>Пример: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ru" sz="1100">
                <a:solidFill>
                  <a:schemeClr val="dk1"/>
                </a:solidFill>
              </a:rPr>
              <a:t>Пользователь вызывает </a:t>
            </a:r>
            <a:r>
              <a:rPr lang="ru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/start</a:t>
            </a:r>
            <a:r>
              <a:rPr lang="ru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ru" sz="1100">
                <a:solidFill>
                  <a:schemeClr val="dk1"/>
                </a:solidFill>
              </a:rPr>
              <a:t>Бот запускает сценарий приветствия и </a:t>
            </a:r>
            <a:r>
              <a:rPr b="1" lang="ru" sz="1100">
                <a:solidFill>
                  <a:schemeClr val="dk1"/>
                </a:solidFill>
              </a:rPr>
              <a:t>показывает reply-меню</a:t>
            </a:r>
            <a:r>
              <a:rPr lang="ru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 sz="1100">
                <a:solidFill>
                  <a:schemeClr val="dk1"/>
                </a:solidFill>
              </a:rPr>
              <a:t>Записаться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 sz="1100">
                <a:solidFill>
                  <a:schemeClr val="dk1"/>
                </a:solidFill>
              </a:rPr>
              <a:t>Цены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 sz="1100">
                <a:solidFill>
                  <a:schemeClr val="dk1"/>
                </a:solidFill>
              </a:rPr>
              <a:t>FAQ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 sz="1100">
                <a:solidFill>
                  <a:schemeClr val="dk1"/>
                </a:solidFill>
              </a:rPr>
              <a:t>В меню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ru" sz="1100">
                <a:solidFill>
                  <a:schemeClr val="dk1"/>
                </a:solidFill>
              </a:rPr>
              <a:t>Пользователь нажимает reply-кнопку </a:t>
            </a:r>
            <a:r>
              <a:rPr b="1" lang="ru" sz="1100">
                <a:solidFill>
                  <a:schemeClr val="dk1"/>
                </a:solidFill>
              </a:rPr>
              <a:t>“Записаться”</a:t>
            </a:r>
            <a:r>
              <a:rPr lang="ru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ru" sz="1100">
                <a:solidFill>
                  <a:schemeClr val="dk1"/>
                </a:solidFill>
              </a:rPr>
              <a:t>Запускается сценарий записи.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ru" sz="1100">
                <a:solidFill>
                  <a:schemeClr val="dk1"/>
                </a:solidFill>
              </a:rPr>
              <a:t>На каждом шаге сценария бот показывает </a:t>
            </a:r>
            <a:r>
              <a:rPr b="1" lang="ru" sz="1100">
                <a:solidFill>
                  <a:schemeClr val="dk1"/>
                </a:solidFill>
              </a:rPr>
              <a:t>inline-кнопки</a:t>
            </a:r>
            <a:r>
              <a:rPr lang="ru" sz="1100">
                <a:solidFill>
                  <a:schemeClr val="dk1"/>
                </a:solidFill>
              </a:rPr>
              <a:t>, например: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 sz="1100">
                <a:solidFill>
                  <a:schemeClr val="dk1"/>
                </a:solidFill>
              </a:rPr>
              <a:t>Выбрать дату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 sz="1100">
                <a:solidFill>
                  <a:schemeClr val="dk1"/>
                </a:solidFill>
              </a:rPr>
              <a:t>Следующий шаг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 sz="1100">
                <a:solidFill>
                  <a:schemeClr val="dk1"/>
                </a:solidFill>
              </a:rPr>
              <a:t>Подтвердить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ru" sz="1100">
                <a:solidFill>
                  <a:schemeClr val="dk1"/>
                </a:solidFill>
              </a:rPr>
              <a:t>После завершения сценария пользователь может: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 sz="1100">
                <a:solidFill>
                  <a:schemeClr val="dk1"/>
                </a:solidFill>
              </a:rPr>
              <a:t>перейти в другое меню,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 sz="1100">
                <a:solidFill>
                  <a:schemeClr val="dk1"/>
                </a:solidFill>
              </a:rPr>
              <a:t>вызвать новую /команду,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 sz="1100">
                <a:solidFill>
                  <a:schemeClr val="dk1"/>
                </a:solidFill>
              </a:rPr>
              <a:t>вернуться в главное меню.</a:t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91994afbcf_0_25"/>
          <p:cNvSpPr txBox="1"/>
          <p:nvPr/>
        </p:nvSpPr>
        <p:spPr>
          <a:xfrm>
            <a:off x="279550" y="1492000"/>
            <a:ext cx="5539200" cy="3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Диалоговый сценарий (диалоговая цепочка) — это заранее спроектированный путь, по которому бот ведёт пользователя к определённой цели.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Примеры сценариев:</a:t>
            </a:r>
            <a:endParaRPr b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“Запись на консультацию”;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“Подбор номера в отеле”;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“Ответ на FAQ-вопрос (ветка из нескольких сообщений)”;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“Подбор тарифа по нескольким вопросам”.</a:t>
            </a:r>
            <a:b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ru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br>
              <a:rPr b="0" i="0" lang="ru" sz="1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36" name="Google Shape;236;g391994afbcf_0_25"/>
          <p:cNvCxnSpPr/>
          <p:nvPr/>
        </p:nvCxnSpPr>
        <p:spPr>
          <a:xfrm rot="10800000">
            <a:off x="10631" y="247463"/>
            <a:ext cx="670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g391994afbcf_0_25"/>
          <p:cNvSpPr txBox="1"/>
          <p:nvPr/>
        </p:nvSpPr>
        <p:spPr>
          <a:xfrm>
            <a:off x="6063394" y="118200"/>
            <a:ext cx="2864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УНИВЕРСИТЕТ ИСКУССТВЕННОГО ИНТЕЛЛЕКТА</a:t>
            </a:r>
            <a:endParaRPr b="0" i="0" sz="9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38" name="Google Shape;238;g391994afbcf_0_25"/>
          <p:cNvSpPr txBox="1"/>
          <p:nvPr/>
        </p:nvSpPr>
        <p:spPr>
          <a:xfrm>
            <a:off x="200075" y="247475"/>
            <a:ext cx="5705100" cy="12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Основы проектирования диалоговых </a:t>
            </a:r>
            <a:endParaRPr sz="3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сценариев</a:t>
            </a:r>
            <a:endParaRPr i="0" sz="108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39" name="Google Shape;239;g391994afbcf_0_25" title="ычс.jpg"/>
          <p:cNvPicPr preferRelativeResize="0"/>
          <p:nvPr/>
        </p:nvPicPr>
        <p:blipFill rotWithShape="1">
          <a:blip r:embed="rId3">
            <a:alphaModFix/>
          </a:blip>
          <a:srcRect b="0" l="27267" r="36418" t="0"/>
          <a:stretch/>
        </p:blipFill>
        <p:spPr>
          <a:xfrm>
            <a:off x="5905200" y="376925"/>
            <a:ext cx="2942751" cy="461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91994afbcf_0_60"/>
          <p:cNvSpPr txBox="1"/>
          <p:nvPr/>
        </p:nvSpPr>
        <p:spPr>
          <a:xfrm>
            <a:off x="207700" y="738150"/>
            <a:ext cx="8656800" cy="44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Базовая структура сценария: из чего он состоит</a:t>
            </a:r>
            <a:endParaRPr b="1" sz="115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1) Точка входа (триггер сценария)</a:t>
            </a:r>
            <a:endParaRPr b="1" sz="11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lang="ru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команда </a:t>
            </a:r>
            <a:r>
              <a:rPr lang="ru" sz="115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/start</a:t>
            </a:r>
            <a:r>
              <a:rPr lang="ru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ru" sz="115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/help</a:t>
            </a:r>
            <a:r>
              <a:rPr lang="ru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ru" sz="115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/faq</a:t>
            </a:r>
            <a:r>
              <a:rPr lang="ru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ru" sz="115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/book</a:t>
            </a:r>
            <a:r>
              <a:rPr lang="ru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;</a:t>
            </a:r>
            <a:endParaRPr sz="11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lang="ru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кнопка reply (</a:t>
            </a:r>
            <a:r>
              <a:rPr lang="ru" sz="115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Записаться</a:t>
            </a:r>
            <a:r>
              <a:rPr lang="ru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ru" sz="115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Подобрать номер</a:t>
            </a:r>
            <a:r>
              <a:rPr lang="ru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ru" sz="115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Спросить про доставку</a:t>
            </a:r>
            <a:r>
              <a:rPr lang="ru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);</a:t>
            </a:r>
            <a:endParaRPr sz="11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lang="ru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inline-кнопка под конкретным сообщением (</a:t>
            </a:r>
            <a:r>
              <a:rPr lang="ru" sz="115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Забронировать этот номер</a:t>
            </a:r>
            <a:r>
              <a:rPr lang="ru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ru" sz="115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Озвучить</a:t>
            </a:r>
            <a:r>
              <a:rPr lang="ru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ru" sz="115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Подробнее</a:t>
            </a:r>
            <a:r>
              <a:rPr lang="ru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).</a:t>
            </a:r>
            <a:endParaRPr sz="11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2) Шаги (последовательность сообщений и действий). </a:t>
            </a:r>
            <a:r>
              <a:rPr lang="ru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Каждый шаг — это:</a:t>
            </a:r>
            <a:endParaRPr sz="11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Montserrat"/>
              <a:buChar char="●"/>
            </a:pPr>
            <a:r>
              <a:rPr lang="ru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что сейчас делает бот (какой текст/карточку показывает),</a:t>
            </a:r>
            <a:endParaRPr sz="11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Montserrat"/>
              <a:buChar char="●"/>
            </a:pPr>
            <a:r>
              <a:rPr lang="ru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что должен сделать пользователь: ответить текстом/выбрать вариант по кнопке/нажать inline-кнопку</a:t>
            </a:r>
            <a:endParaRPr sz="11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3) Развилки (ветки в зависимости от ответа)</a:t>
            </a:r>
            <a:endParaRPr b="1" sz="11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например:</a:t>
            </a:r>
            <a:endParaRPr sz="11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lang="ru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если пользователь нажал </a:t>
            </a:r>
            <a:r>
              <a:rPr lang="ru" sz="115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Онлайн</a:t>
            </a:r>
            <a:r>
              <a:rPr lang="ru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→ идём по ветке онлайн-связи;</a:t>
            </a:r>
            <a:endParaRPr sz="11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lang="ru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если </a:t>
            </a:r>
            <a:r>
              <a:rPr lang="ru" sz="115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Офлайн</a:t>
            </a:r>
            <a:r>
              <a:rPr lang="ru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→ другая ветка (адрес, слот, город);</a:t>
            </a:r>
            <a:endParaRPr sz="11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Montserrat"/>
              <a:buChar char="●"/>
            </a:pPr>
            <a:r>
              <a:rPr lang="ru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если “Другое” → уточняющий вопрос.</a:t>
            </a:r>
            <a:endParaRPr sz="11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Это и есть “ветвление диалога” — стандартный элемент любой диалоговой цепочки.</a:t>
            </a:r>
            <a:r>
              <a:rPr lang="ru" sz="115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endParaRPr sz="11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4) Результат (чем заканчивается сценарий)</a:t>
            </a:r>
            <a:endParaRPr b="1" sz="11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Сценарий должен иметь понятный конец, а не растворяться.</a:t>
            </a:r>
            <a:br>
              <a:rPr lang="ru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Результат может быть:</a:t>
            </a:r>
            <a:endParaRPr sz="11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Montserrat"/>
              <a:buChar char="●"/>
            </a:pPr>
            <a:r>
              <a:rPr lang="ru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заявка создана → данные сохранены/отправлены менеджеру;</a:t>
            </a:r>
            <a:endParaRPr sz="11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Montserrat"/>
              <a:buChar char="●"/>
            </a:pPr>
            <a:r>
              <a:rPr lang="ru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ответ на вопрос дан → предложен следующий шаг (“Хотите…?”);</a:t>
            </a:r>
            <a:endParaRPr sz="11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Montserrat"/>
              <a:buChar char="●"/>
            </a:pPr>
            <a:r>
              <a:rPr lang="ru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подбор завершён → показан итоговый вариант + кнопка действия;</a:t>
            </a:r>
            <a:endParaRPr sz="11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Montserrat"/>
              <a:buChar char="●"/>
            </a:pPr>
            <a:r>
              <a:rPr lang="ru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пользователь возвращён в главное меню.</a:t>
            </a:r>
            <a:endParaRPr sz="11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b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br>
              <a:rPr b="0" i="0" lang="ru" sz="1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45" name="Google Shape;245;g391994afbcf_0_60"/>
          <p:cNvCxnSpPr/>
          <p:nvPr/>
        </p:nvCxnSpPr>
        <p:spPr>
          <a:xfrm rot="10800000">
            <a:off x="10631" y="247463"/>
            <a:ext cx="670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" name="Google Shape;246;g391994afbcf_0_60"/>
          <p:cNvSpPr txBox="1"/>
          <p:nvPr/>
        </p:nvSpPr>
        <p:spPr>
          <a:xfrm>
            <a:off x="6063394" y="118200"/>
            <a:ext cx="2864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УНИВЕРСИТЕТ ИСКУССТВЕННОГО ИНТЕЛЛЕКТА</a:t>
            </a:r>
            <a:endParaRPr b="0" i="0" sz="9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7" name="Google Shape;247;g391994afbcf_0_60"/>
          <p:cNvSpPr txBox="1"/>
          <p:nvPr/>
        </p:nvSpPr>
        <p:spPr>
          <a:xfrm>
            <a:off x="207700" y="204325"/>
            <a:ext cx="85524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Основы проектирования диалоговых сценариев</a:t>
            </a:r>
            <a:endParaRPr i="0" sz="3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91994afbcf_0_74"/>
          <p:cNvSpPr txBox="1"/>
          <p:nvPr/>
        </p:nvSpPr>
        <p:spPr>
          <a:xfrm>
            <a:off x="207700" y="1130775"/>
            <a:ext cx="86568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Как описывать сценарий в vibe-coding (минимальный шаблон)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Чтобы модель правильно собрала логику бота, сценарий проще описывать структурой:</a:t>
            </a:r>
            <a:b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– Название и цель сценария.</a:t>
            </a:r>
            <a:b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– Что его запускает (команды, reply-кнопки, inline-кнопки).</a:t>
            </a:r>
            <a:b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– Шаги по порядку: что говорит бот и что делает пользователь.</a:t>
            </a:r>
            <a:b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– Где есть развилки (какие варианты и куда ведут).</a:t>
            </a:r>
            <a:b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– Чем заканчивается сценарий и что делает бот в финале.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b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br>
              <a:rPr b="0" i="0" lang="ru" sz="1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53" name="Google Shape;253;g391994afbcf_0_74"/>
          <p:cNvCxnSpPr/>
          <p:nvPr/>
        </p:nvCxnSpPr>
        <p:spPr>
          <a:xfrm rot="10800000">
            <a:off x="10631" y="247463"/>
            <a:ext cx="670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g391994afbcf_0_74"/>
          <p:cNvSpPr txBox="1"/>
          <p:nvPr/>
        </p:nvSpPr>
        <p:spPr>
          <a:xfrm>
            <a:off x="6063394" y="118200"/>
            <a:ext cx="28647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УНИВЕРСИТЕТ ИСКУССТВЕННОГО ИНТЕЛЛЕКТА</a:t>
            </a:r>
            <a:endParaRPr b="0" i="0" sz="9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55" name="Google Shape;255;g391994afbcf_0_74"/>
          <p:cNvSpPr txBox="1"/>
          <p:nvPr/>
        </p:nvSpPr>
        <p:spPr>
          <a:xfrm>
            <a:off x="207700" y="389238"/>
            <a:ext cx="85524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Основы проектирования диалоговых сценариев</a:t>
            </a:r>
            <a:endParaRPr i="0" sz="3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15" title="uyp.jpg"/>
          <p:cNvPicPr preferRelativeResize="0"/>
          <p:nvPr/>
        </p:nvPicPr>
        <p:blipFill rotWithShape="1">
          <a:blip r:embed="rId3">
            <a:alphaModFix/>
          </a:blip>
          <a:srcRect b="0" l="29357" r="34779" t="0"/>
          <a:stretch/>
        </p:blipFill>
        <p:spPr>
          <a:xfrm>
            <a:off x="5998675" y="0"/>
            <a:ext cx="2849275" cy="4792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1" name="Google Shape;261;p15"/>
          <p:cNvCxnSpPr/>
          <p:nvPr/>
        </p:nvCxnSpPr>
        <p:spPr>
          <a:xfrm rot="10800000">
            <a:off x="10631" y="5064663"/>
            <a:ext cx="670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2" name="Google Shape;262;p15"/>
          <p:cNvSpPr txBox="1"/>
          <p:nvPr/>
        </p:nvSpPr>
        <p:spPr>
          <a:xfrm>
            <a:off x="6713525" y="4896300"/>
            <a:ext cx="22887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УНИВЕРСИТЕТ ИСКУССТВЕННОГО ИНТЕЛЛЕКТА</a:t>
            </a:r>
            <a:endParaRPr b="0" i="0" sz="9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63" name="Google Shape;263;p15"/>
          <p:cNvSpPr txBox="1"/>
          <p:nvPr/>
        </p:nvSpPr>
        <p:spPr>
          <a:xfrm>
            <a:off x="471150" y="348950"/>
            <a:ext cx="5342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" sz="3000" u="none" cap="none" strike="noStrike">
                <a:solidFill>
                  <a:srgbClr val="2C2C36"/>
                </a:solidFill>
                <a:highlight>
                  <a:srgbClr val="FFFFFF"/>
                </a:highlight>
                <a:latin typeface="Oswald"/>
                <a:ea typeface="Oswald"/>
                <a:cs typeface="Oswald"/>
                <a:sym typeface="Oswald"/>
              </a:rPr>
              <a:t>Перейдем к практике</a:t>
            </a:r>
            <a:endParaRPr b="0" i="0" sz="30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64" name="Google Shape;264;p15"/>
          <p:cNvSpPr txBox="1"/>
          <p:nvPr/>
        </p:nvSpPr>
        <p:spPr>
          <a:xfrm>
            <a:off x="269875" y="1067950"/>
            <a:ext cx="5460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Создание ТГ бота: AI тур агент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